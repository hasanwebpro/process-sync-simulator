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Score / 100</c:v>
                </c:pt>
              </c:strCache>
            </c:strRef>
          </c:tx>
          <c:spPr>
            <a:solidFill>
              <a:srgbClr val="2563EB"/>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2563EB"/>
              </a:solidFill>
              <a:effectLst/>
            </c:spPr>
          </c:dPt>
          <c:dPt>
            <c:idx val="1"/>
            <c:invertIfNegative val="0"/>
            <c:bubble3D val="0"/>
            <c:spPr>
              <a:solidFill>
                <a:srgbClr val="06B6D4"/>
              </a:solidFill>
              <a:effectLst/>
            </c:spPr>
          </c:dPt>
          <c:dPt>
            <c:idx val="2"/>
            <c:invertIfNegative val="0"/>
            <c:bubble3D val="0"/>
            <c:spPr>
              <a:solidFill>
                <a:srgbClr val="38BDF8"/>
              </a:solidFill>
              <a:effectLst/>
            </c:spPr>
          </c:dPt>
          <c:dPt>
            <c:idx val="3"/>
            <c:invertIfNegative val="0"/>
            <c:bubble3D val="0"/>
            <c:spPr>
              <a:solidFill>
                <a:srgbClr val="10B981"/>
              </a:solidFill>
              <a:effectLst/>
            </c:spPr>
          </c:dPt>
          <c:dPt>
            <c:idx val="4"/>
            <c:invertIfNegative val="0"/>
            <c:bubble3D val="0"/>
            <c:spPr>
              <a:solidFill>
                <a:srgbClr val="10B981"/>
              </a:solidFill>
              <a:effectLst/>
            </c:spPr>
          </c:dPt>
          <c:dPt>
            <c:idx val="5"/>
            <c:invertIfNegative val="0"/>
            <c:bubble3D val="0"/>
            <c:spPr>
              <a:solidFill>
                <a:srgbClr val="10B981"/>
              </a:solidFill>
              <a:effectLst/>
            </c:spPr>
          </c:dPt>
          <c:dPt>
            <c:idx val="6"/>
            <c:invertIfNegative val="0"/>
            <c:bubble3D val="0"/>
            <c:spPr>
              <a:solidFill>
                <a:srgbClr val="F59E0B"/>
              </a:solidFill>
              <a:effectLst/>
            </c:spPr>
          </c:dPt>
          <c:dPt>
            <c:idx val="7"/>
            <c:invertIfNegative val="0"/>
            <c:bubble3D val="0"/>
            <c:spPr>
              <a:solidFill>
                <a:srgbClr val="F59E0B"/>
              </a:solidFill>
              <a:effectLst/>
            </c:spPr>
          </c:dPt>
          <c:cat>
            <c:multiLvlStrRef>
              <c:f>Sheet1!$A$2:$A$9</c:f>
              <c:multiLvlStrCache>
                <c:ptCount val="8"/>
                <c:lvl>
                  <c:pt idx="0">
                    <c:v>Mutex</c:v>
                  </c:pt>
                  <c:pt idx="1">
                    <c:v>Monitor</c:v>
                  </c:pt>
                  <c:pt idx="2">
                    <c:v>Bin. Sema.</c:v>
                  </c:pt>
                  <c:pt idx="3">
                    <c:v>Count. Sema.</c:v>
                  </c:pt>
                  <c:pt idx="4">
                    <c:v>Prod-Con</c:v>
                  </c:pt>
                  <c:pt idx="5">
                    <c:v>Readers-W</c:v>
                  </c:pt>
                  <c:pt idx="6">
                    <c:v>Peterson</c:v>
                  </c:pt>
                  <c:pt idx="7">
                    <c:v>Dekker</c:v>
                  </c:pt>
                </c:lvl>
              </c:multiLvlStrCache>
            </c:multiLvlStrRef>
          </c:cat>
          <c:val>
            <c:numRef>
              <c:f>Sheet1!$B$2:$B$9</c:f>
              <c:numCache>
                <c:formatCode>General</c:formatCode>
                <c:ptCount val="8"/>
                <c:pt idx="0">
                  <c:v>95</c:v>
                </c:pt>
                <c:pt idx="1">
                  <c:v>92</c:v>
                </c:pt>
                <c:pt idx="2">
                  <c:v>90</c:v>
                </c:pt>
                <c:pt idx="3">
                  <c:v>88</c:v>
                </c:pt>
                <c:pt idx="4">
                  <c:v>87</c:v>
                </c:pt>
                <c:pt idx="5">
                  <c:v>85</c:v>
                </c:pt>
                <c:pt idx="6">
                  <c:v>78</c:v>
                </c:pt>
                <c:pt idx="7">
                  <c:v>72</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D374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293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our Operating Systems project — the Process Synchronization Simulator — a web-based interactive platform that makes CPU scheduling and synchronization concepts visible and step-by-step. I am Syed Hassan Bukhari, roll 23FA-040-SE, presenting with Huzaifa Ali Khan, roll 24SP-032-SE. We are from the Department of Computer Science, Software Engineering batch 2024, Section A, Spring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 full simulation environment split into four phases. Phase 1 runs CPU scheduling algorithms on user-defined processes and produces Gantt charts with metrics. Phase 2 replays that schedule against a shared resource without any synchronization to detect race conditions and other problems. Phase 3 applies one of ten synchronization mechanisms and shows a step-by-step animated visualization of processes entering and leaving the critical section. Phase 4 scores and ranks all techniques. The key idea is that all four phases operate on the same set of processes, so you can directly trace how a scheduling decision leads to a synchronization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that OS education is highly theoretical. Three specific gaps motivated this project. First, concepts like critical sections are described abstractly — students never see which processes overlap, what values get corrupted, or why. Second, the connection between scheduling policy and synchronization severity is almost never demonstrated: a Round Robin schedule creates far more interleaving than FCFS, which means far more race conditions. Third, there is no single interactive tool that ties together scheduling, problem detection, synchronization, and comparison in one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four objectives directly address the four gaps we identified. The first is about making scheduling tangible — students can add their own processes, choose any combination of algorithms, and instantly see the Gantt chart and metrics change. The second is automatic problem detection from real execution data, not just a static description. The third is the most visual part — the live canvas showing processes literally inside and outside the critical section. The fourth ties everything together with a scoring system that ranks algorithms based on actual simulation correctness, not hardcoded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core OS concepts are implemented in this project. CPU Scheduling covers five classical algorithms with all standard metrics. The Critical Section concept covers the three correctness requirements from Silberschatz. Software solutions include Peterson's and Dekker's algorithms — these are important historically but both have limitations like busy-waiting and two-process-only restriction. Semaphores cover both binary and counting variants. Mutex locks add ownership semantics over binary semaphores. Finally, classic problems like Producer-Consumer, Readers-Writers, and Monitor are fully simulated with all their synchronization primitives working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the four-phase pipeline directly. Each phase has its own Python engine module and builds on the previous phase's output. Phase 1 produces the CPU schedule. Phase 2 uses that schedule to detect problems. Phase 3 uses the Phase 1 process data to run synchronization simulations. Phase 4 analyzes all Phase 3 results. For the tech stack — we chose Python Flask because it keeps simulation logic cleanly separated from the presentation layer. The frontend uses no framework, just vanilla JavaScript and the Canvas API, which meant we had full control over every pixel of the visualization.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three layers. The Frontend is a single-page application — one HTML file, one CSS file, and several JavaScript modules. It talks to the backend via simple JSON HTTP requests. The API Layer is Flask with seven REST endpoints, one per simulation operation. The Engine Layer contains five independent Python modules: the CPU Scheduler, Sync Simulator, Execution Engine, Diagnostics Engine, and Analysis Engine. All engines are stateless objects — they take input, return output, and store no data between calls. This makes them safe to reuse across requests without data leaking between sessions. The Execution Engine is the most complex piece — it weaves the CPU Gantt chart with sync simulation steps into a single unified timeline that the frontend plays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most important code pieces are shown here. The _step() method is called by every algorithm to record a snapshot. The critical design decision is using Python's deepcopy on all mutable fields — processes dict, resources dict, shared_vars dict. Without deepcopy, every step snapshot would alias the same live object and show only the final state, making the educational step replay completely broken. The Peterson's code shows the turn mechanism: both processes set turn to the other process's index, meaning they each say 'I defer to you'. Since P1 writes last (turn=0), it defers to P0, so P0 enters the critical section first. This is a subtle but important point that's much clearer when you can step through the variable values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screenshots represent the main views of the simulator. Phase 1 shows the Gantt chart canvas with colored blocks for each algorithm — the primary algorithm (lowest average wait time) is highlighted. Phase 2 shows the problem detection matrix with severity badges — when you use Round Robin, you see far more red badges than with FCFS. Phase 3 is the most visual: you literally see a process inside the green Shared Resource box and others queued up below in amber. This canvas is drawn with PptxGenJS and updates every step. Phase 4 shows the technique comparison table and bar charts. Mutex Lock typically ranks first because it blocks waiting processes without burning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show that blocking primitives consistently outperform busy-wait solutions. Mutex Lock scores 95 out of 100 — it provides strict mutual exclusion, is deadlock-free when used correctly, never burns CPU while waiting, and maintains correct shared counter values. Monitor scores 92 because the high-level abstraction eliminates the possibility of forgetting to acquire the lock. Peterson and Dekker score 78 and 72 respectively — they are correct (mutual exclusion is maintained) but lose points for busy-waiting. The scoring formula weights mutual exclusion at 50 points, deadlock freedom at 30 points, correctness at 20 points, minus an efficiency penalty for busy-wait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significant challenges came up during development. The deep copy bug was the hardest to diagnose because everything worked at first glance — the simulation ran, steps were recorded, and playback started. But every step showed identical state. The root cause was that Python dictionaries and lists are passed by reference, so all 30 steps in the list were pointing to the same live objects. The canvas height issue was a classic CSS vs JavaScript conflict — setting canvas.height as a JS attribute overrides CSS height. The waiting queue issue was purely a max-height constraint in CSS that we didn't notice. The weaving problem was the most complex algorithmically and required careful handling of edge cases like sync steps that span multiple CPU slices.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gave us two categories of learning. Technically, we learned how to build a proper REST API with Flask, how to use the HTML5 Canvas API for custom visualizations, and how important deep-copy correctness is in simulation code. The ResizeObserver approach for matching canvas height to dynamic content was something new. Conceptually, the biggest insight was that preemption and synchronization problems are directly linked — you can see this in the results when you switch from FCFS to Round Robin in Phase 1 and watch the Phase 2 problem count increase. We also gained a much clearer understanding of why mutex has ownership but semaphore does not, and what the practical consequences of that difference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achieved all four objectives. The four-phase pipeline is fully functional and connected — Phase 1 output feeds directly into Phase 2 detection, and Phase 1 process data is used for Phase 3 simulation. All ten synchronization mechanisms are implemented from scratch in Python with proper step-by-step state snapshots. The scoring system uses real simulation data and the weighting is grounded in OS theory: mutual exclusion is the primary goal, deadlock freedom is critical, correctness is measured against expected values. The step playback system proved to be the most educationally valuable feature — being able to pause at exactly the moment a process enters the critical section and see every other variable value at that instant is something no textbook diagram can replicate.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meaningful extensions are planned. True concurrent mode is the most impactful — right now the simulation serializes events for clarity, but a real thread-based mode would show genuine race conditions where the output is different every single run, which is impossible to demonstrate with a deterministic simulation. Lamport's Bakery would make the software solutions section complete — Peterson and Dekker for 2 processes, Bakery for N. The AI explanation feature is mostly infrastructure-ready: the build_llm_context method already formats all results as a structured text block for the LLM. Memory management would turn the simulator into a complete OS concepts platform covering all the major topics from a standard OS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We are happy to take any questions. Some areas you might want to ask about: How the step snapshot deep-copy system works and why it was necessary. How the schedule-sync weaving algorithm assigns sync events to CPU slices. Why blocking primitives score higher than busy-wait solutions in the analysis. What the difference is between a mutex with ownership and a binary semaphore without ownership. How the Phase 2 problem detection determines race conditions from a CPU schedule. We are also happy to do a live demo of the simulator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223760" y="-1463040"/>
            <a:ext cx="4754880" cy="4754880"/>
          </a:xfrm>
          <a:prstGeom prst="ellipse">
            <a:avLst/>
          </a:prstGeom>
          <a:solidFill>
            <a:srgbClr val="1C3560">
              <a:alpha val="55000"/>
            </a:srgbClr>
          </a:solidFill>
          <a:ln w="12700">
            <a:solidFill>
              <a:srgbClr val="1C3560"/>
            </a:solidFill>
            <a:prstDash val="solid"/>
          </a:ln>
        </p:spPr>
      </p:sp>
      <p:sp>
        <p:nvSpPr>
          <p:cNvPr id="3" name="Shape 1"/>
          <p:cNvSpPr/>
          <p:nvPr/>
        </p:nvSpPr>
        <p:spPr>
          <a:xfrm>
            <a:off x="-2011680" y="2286000"/>
            <a:ext cx="4389120" cy="4389120"/>
          </a:xfrm>
          <a:prstGeom prst="ellipse">
            <a:avLst/>
          </a:prstGeom>
          <a:solidFill>
            <a:srgbClr val="06B6D4">
              <a:alpha val="13000"/>
            </a:srgbClr>
          </a:solidFill>
          <a:ln w="12700">
            <a:solidFill>
              <a:srgbClr val="06B6D4"/>
            </a:solidFill>
            <a:prstDash val="solid"/>
          </a:ln>
        </p:spPr>
      </p:sp>
      <p:sp>
        <p:nvSpPr>
          <p:cNvPr id="4" name="Shape 2"/>
          <p:cNvSpPr/>
          <p:nvPr/>
        </p:nvSpPr>
        <p:spPr>
          <a:xfrm>
            <a:off x="4572000" y="274320"/>
            <a:ext cx="1097280" cy="1097280"/>
          </a:xfrm>
          <a:prstGeom prst="ellipse">
            <a:avLst/>
          </a:prstGeom>
          <a:solidFill>
            <a:srgbClr val="2563EB">
              <a:alpha val="30000"/>
            </a:srgbClr>
          </a:solidFill>
          <a:ln w="12700">
            <a:solidFill>
              <a:srgbClr val="2563EB"/>
            </a:solidFill>
            <a:prstDash val="solid"/>
          </a:ln>
        </p:spPr>
      </p:sp>
      <p:sp>
        <p:nvSpPr>
          <p:cNvPr id="5" name="Shape 3"/>
          <p:cNvSpPr/>
          <p:nvPr/>
        </p:nvSpPr>
        <p:spPr>
          <a:xfrm>
            <a:off x="457200" y="274320"/>
            <a:ext cx="2651760" cy="347472"/>
          </a:xfrm>
          <a:prstGeom prst="roundRect">
            <a:avLst>
              <a:gd name="adj" fmla="val 15789"/>
            </a:avLst>
          </a:prstGeom>
          <a:solidFill>
            <a:srgbClr val="2563E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6" name="Text 4"/>
          <p:cNvSpPr/>
          <p:nvPr/>
        </p:nvSpPr>
        <p:spPr>
          <a:xfrm>
            <a:off x="457200" y="274320"/>
            <a:ext cx="2651760" cy="347472"/>
          </a:xfrm>
          <a:prstGeom prst="rect">
            <a:avLst/>
          </a:prstGeom>
          <a:noFill/>
          <a:ln/>
        </p:spPr>
        <p:txBody>
          <a:bodyPr wrap="square" lIns="0" tIns="0" rIns="0" bIns="0" rtlCol="0" anchor="ctr"/>
          <a:lstStyle/>
          <a:p>
            <a:pPr algn="ctr" indent="0" marL="0">
              <a:buNone/>
            </a:pPr>
            <a:r>
              <a:rPr lang="en-US" sz="850" b="1" dirty="0">
                <a:solidFill>
                  <a:srgbClr val="FFFFFF"/>
                </a:solidFill>
              </a:rPr>
              <a:t>OPERATING SYSTEM  ·  COMPUTER SCIENCE</a:t>
            </a:r>
            <a:endParaRPr lang="en-US" sz="850" dirty="0"/>
          </a:p>
        </p:txBody>
      </p:sp>
      <p:sp>
        <p:nvSpPr>
          <p:cNvPr id="7" name="Text 5"/>
          <p:cNvSpPr/>
          <p:nvPr/>
        </p:nvSpPr>
        <p:spPr>
          <a:xfrm>
            <a:off x="457200" y="786384"/>
            <a:ext cx="8229600" cy="841248"/>
          </a:xfrm>
          <a:prstGeom prst="rect">
            <a:avLst/>
          </a:prstGeom>
          <a:noFill/>
          <a:ln/>
        </p:spPr>
        <p:txBody>
          <a:bodyPr wrap="square" lIns="0" tIns="0" rIns="0" bIns="0"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Process Synchronization</a:t>
            </a:r>
            <a:endParaRPr lang="en-US" sz="4600" dirty="0"/>
          </a:p>
        </p:txBody>
      </p:sp>
      <p:sp>
        <p:nvSpPr>
          <p:cNvPr id="8" name="Text 6"/>
          <p:cNvSpPr/>
          <p:nvPr/>
        </p:nvSpPr>
        <p:spPr>
          <a:xfrm>
            <a:off x="457200" y="1600200"/>
            <a:ext cx="8229600" cy="804672"/>
          </a:xfrm>
          <a:prstGeom prst="rect">
            <a:avLst/>
          </a:prstGeom>
          <a:noFill/>
          <a:ln/>
        </p:spPr>
        <p:txBody>
          <a:bodyPr wrap="square" lIns="0" tIns="0" rIns="0" bIns="0" rtlCol="0" anchor="ctr"/>
          <a:lstStyle/>
          <a:p>
            <a:pPr algn="ctr" indent="0" marL="0">
              <a:buNone/>
            </a:pPr>
            <a:r>
              <a:rPr lang="en-US" sz="5200" b="1" dirty="0">
                <a:solidFill>
                  <a:srgbClr val="06B6D4"/>
                </a:solidFill>
                <a:latin typeface="Calibri" pitchFamily="34" charset="0"/>
                <a:ea typeface="Calibri" pitchFamily="34" charset="-122"/>
                <a:cs typeface="Calibri" pitchFamily="34" charset="-120"/>
              </a:rPr>
              <a:t>Simulator</a:t>
            </a:r>
            <a:endParaRPr lang="en-US" sz="5200" dirty="0"/>
          </a:p>
        </p:txBody>
      </p:sp>
      <p:sp>
        <p:nvSpPr>
          <p:cNvPr id="9" name="Text 7"/>
          <p:cNvSpPr/>
          <p:nvPr/>
        </p:nvSpPr>
        <p:spPr>
          <a:xfrm>
            <a:off x="914400" y="2450592"/>
            <a:ext cx="7315200" cy="411480"/>
          </a:xfrm>
          <a:prstGeom prst="rect">
            <a:avLst/>
          </a:prstGeom>
          <a:noFill/>
          <a:ln/>
        </p:spPr>
        <p:txBody>
          <a:bodyPr wrap="square" lIns="0" tIns="0" rIns="0" bIns="0" rtlCol="0" anchor="ctr"/>
          <a:lstStyle/>
          <a:p>
            <a:pPr algn="ctr" indent="0" marL="0">
              <a:buNone/>
            </a:pPr>
            <a:r>
              <a:rPr lang="en-US" sz="1500" i="1" dirty="0">
                <a:solidFill>
                  <a:srgbClr val="94A3B8"/>
                </a:solidFill>
                <a:latin typeface="Calibri" pitchFamily="34" charset="0"/>
                <a:ea typeface="Calibri" pitchFamily="34" charset="-122"/>
                <a:cs typeface="Calibri" pitchFamily="34" charset="-120"/>
              </a:rPr>
              <a:t>An Interactive OS Learning Platform</a:t>
            </a:r>
            <a:endParaRPr lang="en-US" sz="1500" dirty="0"/>
          </a:p>
        </p:txBody>
      </p:sp>
      <p:sp>
        <p:nvSpPr>
          <p:cNvPr id="10" name="Shape 8"/>
          <p:cNvSpPr/>
          <p:nvPr/>
        </p:nvSpPr>
        <p:spPr>
          <a:xfrm>
            <a:off x="274320" y="2999232"/>
            <a:ext cx="8595360" cy="1828800"/>
          </a:xfrm>
          <a:prstGeom prst="rect">
            <a:avLst/>
          </a:prstGeom>
          <a:solidFill>
            <a:srgbClr val="1E293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11" name="Shape 9"/>
          <p:cNvSpPr/>
          <p:nvPr/>
        </p:nvSpPr>
        <p:spPr>
          <a:xfrm>
            <a:off x="3246120" y="3127248"/>
            <a:ext cx="0" cy="1572768"/>
          </a:xfrm>
          <a:prstGeom prst="line">
            <a:avLst/>
          </a:prstGeom>
          <a:noFill/>
          <a:ln w="12700">
            <a:solidFill>
              <a:srgbClr val="2563EB"/>
            </a:solidFill>
            <a:prstDash val="solid"/>
          </a:ln>
        </p:spPr>
      </p:sp>
      <p:sp>
        <p:nvSpPr>
          <p:cNvPr id="12" name="Shape 10"/>
          <p:cNvSpPr/>
          <p:nvPr/>
        </p:nvSpPr>
        <p:spPr>
          <a:xfrm>
            <a:off x="6199632" y="3127248"/>
            <a:ext cx="0" cy="1572768"/>
          </a:xfrm>
          <a:prstGeom prst="line">
            <a:avLst/>
          </a:prstGeom>
          <a:noFill/>
          <a:ln w="12700">
            <a:solidFill>
              <a:srgbClr val="2563EB"/>
            </a:solidFill>
            <a:prstDash val="solid"/>
          </a:ln>
        </p:spPr>
      </p:sp>
      <p:sp>
        <p:nvSpPr>
          <p:cNvPr id="13" name="Text 11"/>
          <p:cNvSpPr/>
          <p:nvPr/>
        </p:nvSpPr>
        <p:spPr>
          <a:xfrm>
            <a:off x="365760" y="3035808"/>
            <a:ext cx="2743200" cy="1691640"/>
          </a:xfrm>
          <a:prstGeom prst="rect">
            <a:avLst/>
          </a:prstGeom>
          <a:noFill/>
          <a:ln/>
        </p:spPr>
        <p:txBody>
          <a:bodyPr wrap="square" rtlCol="0" anchor="ctr"/>
          <a:lstStyle/>
          <a:p>
            <a:pPr algn="ctr" indent="0" marL="0">
              <a:buNone/>
            </a:pPr>
            <a:r>
              <a:rPr lang="en-US" sz="1200" b="1" dirty="0">
                <a:solidFill>
                  <a:srgbClr val="06B6D4"/>
                </a:solidFill>
                <a:latin typeface="Calibri" pitchFamily="34" charset="0"/>
                <a:ea typeface="Calibri" pitchFamily="34" charset="-122"/>
                <a:cs typeface="Calibri" pitchFamily="34" charset="-120"/>
              </a:rPr>
              <a:t>23FA-040-SE</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Syed Hassan Bukhari</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Software Engineering</a:t>
            </a:r>
            <a:endParaRPr lang="en-US" sz="1200" dirty="0"/>
          </a:p>
        </p:txBody>
      </p:sp>
      <p:sp>
        <p:nvSpPr>
          <p:cNvPr id="14" name="Text 12"/>
          <p:cNvSpPr/>
          <p:nvPr/>
        </p:nvSpPr>
        <p:spPr>
          <a:xfrm>
            <a:off x="3337560" y="3035808"/>
            <a:ext cx="2743200" cy="1691640"/>
          </a:xfrm>
          <a:prstGeom prst="rect">
            <a:avLst/>
          </a:prstGeom>
          <a:noFill/>
          <a:ln/>
        </p:spPr>
        <p:txBody>
          <a:bodyPr wrap="square" rtlCol="0" anchor="ctr"/>
          <a:lstStyle/>
          <a:p>
            <a:pPr algn="ctr" indent="0" marL="0">
              <a:buNone/>
            </a:pPr>
            <a:r>
              <a:rPr lang="en-US" sz="1200" b="1" dirty="0">
                <a:solidFill>
                  <a:srgbClr val="06B6D4"/>
                </a:solidFill>
                <a:latin typeface="Calibri" pitchFamily="34" charset="0"/>
                <a:ea typeface="Calibri" pitchFamily="34" charset="-122"/>
                <a:cs typeface="Calibri" pitchFamily="34" charset="-120"/>
              </a:rPr>
              <a:t>24SP-032-SE</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Huzaifa Ali Khan</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Software Engineering</a:t>
            </a:r>
            <a:endParaRPr lang="en-US" sz="1200" dirty="0"/>
          </a:p>
        </p:txBody>
      </p:sp>
      <p:sp>
        <p:nvSpPr>
          <p:cNvPr id="15" name="Text 13"/>
          <p:cNvSpPr/>
          <p:nvPr/>
        </p:nvSpPr>
        <p:spPr>
          <a:xfrm>
            <a:off x="6291072" y="3035808"/>
            <a:ext cx="2468880" cy="1691640"/>
          </a:xfrm>
          <a:prstGeom prst="rect">
            <a:avLst/>
          </a:prstGeom>
          <a:noFill/>
          <a:ln/>
        </p:spPr>
        <p:txBody>
          <a:bodyPr wrap="square" rtlCol="0" anchor="ctr"/>
          <a:lstStyle/>
          <a:p>
            <a:pPr algn="ctr" indent="0" marL="0">
              <a:buNone/>
            </a:pPr>
            <a:r>
              <a:rPr lang="en-US" sz="1100" b="1" dirty="0">
                <a:solidFill>
                  <a:srgbClr val="38BDF8"/>
                </a:solidFill>
                <a:latin typeface="Calibri" pitchFamily="34" charset="0"/>
                <a:ea typeface="Calibri" pitchFamily="34" charset="-122"/>
                <a:cs typeface="Calibri" pitchFamily="34" charset="-120"/>
              </a:rPr>
              <a:t>Dept. of Computer Science</a:t>
            </a:r>
            <a:endParaRPr lang="en-US" sz="1100" dirty="0"/>
          </a:p>
          <a:p>
            <a:pPr algn="ctr" indent="0" marL="0">
              <a:buNone/>
            </a:pPr>
            <a:r>
              <a:rPr lang="en-US" sz="1100" dirty="0">
                <a:solidFill>
                  <a:srgbClr val="CBD5E1"/>
                </a:solidFill>
                <a:latin typeface="Calibri" pitchFamily="34" charset="0"/>
                <a:ea typeface="Calibri" pitchFamily="34" charset="-122"/>
                <a:cs typeface="Calibri" pitchFamily="34" charset="-120"/>
              </a:rPr>
              <a:t>Batch: 2024 Spring  •  Section: A</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Spring Semester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Project Overview</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Project Overview</a:t>
            </a:r>
            <a:endParaRPr lang="en-US" sz="2800" dirty="0"/>
          </a:p>
        </p:txBody>
      </p:sp>
      <p:sp>
        <p:nvSpPr>
          <p:cNvPr id="5" name="Text 3"/>
          <p:cNvSpPr/>
          <p:nvPr/>
        </p:nvSpPr>
        <p:spPr>
          <a:xfrm>
            <a:off x="411480" y="960120"/>
            <a:ext cx="4114800" cy="384048"/>
          </a:xfrm>
          <a:prstGeom prst="rect">
            <a:avLst/>
          </a:prstGeom>
          <a:noFill/>
          <a:ln/>
        </p:spPr>
        <p:txBody>
          <a:bodyPr wrap="square" rtlCol="0" anchor="ctr"/>
          <a:lstStyle/>
          <a:p>
            <a:pPr indent="0" marL="0">
              <a:buNone/>
            </a:pPr>
            <a:r>
              <a:rPr lang="en-US" sz="1500" b="1" dirty="0">
                <a:solidFill>
                  <a:srgbClr val="38BDF8"/>
                </a:solidFill>
                <a:latin typeface="Calibri" pitchFamily="34" charset="0"/>
                <a:ea typeface="Calibri" pitchFamily="34" charset="-122"/>
                <a:cs typeface="Calibri" pitchFamily="34" charset="-120"/>
              </a:rPr>
              <a:t>What is this project?</a:t>
            </a:r>
            <a:endParaRPr lang="en-US" sz="1500" dirty="0"/>
          </a:p>
        </p:txBody>
      </p:sp>
      <p:sp>
        <p:nvSpPr>
          <p:cNvPr id="6" name="Text 4"/>
          <p:cNvSpPr/>
          <p:nvPr/>
        </p:nvSpPr>
        <p:spPr>
          <a:xfrm>
            <a:off x="411480" y="1353312"/>
            <a:ext cx="4023360" cy="804672"/>
          </a:xfrm>
          <a:prstGeom prst="rect">
            <a:avLst/>
          </a:prstGeom>
          <a:noFill/>
          <a:ln/>
        </p:spPr>
        <p:txBody>
          <a:bodyPr wrap="square" rtlCol="0" anchor="t"/>
          <a:lstStyle/>
          <a:p>
            <a:pPr indent="0" marL="0">
              <a:buNone/>
            </a:pPr>
            <a:r>
              <a:rPr lang="en-US" sz="1250" dirty="0">
                <a:solidFill>
                  <a:srgbClr val="CBD5E1"/>
                </a:solidFill>
                <a:latin typeface="Calibri" pitchFamily="34" charset="0"/>
                <a:ea typeface="Calibri" pitchFamily="34" charset="-122"/>
                <a:cs typeface="Calibri" pitchFamily="34" charset="-120"/>
              </a:rPr>
              <a:t>A four-phase interactive web simulator that connects CPU scheduling decisions to synchronization problems — and then shows how to fix them using real OS algorithms.</a:t>
            </a:r>
            <a:endParaRPr lang="en-US" sz="1250" dirty="0"/>
          </a:p>
        </p:txBody>
      </p:sp>
      <p:sp>
        <p:nvSpPr>
          <p:cNvPr id="7" name="Shape 5"/>
          <p:cNvSpPr/>
          <p:nvPr/>
        </p:nvSpPr>
        <p:spPr>
          <a:xfrm>
            <a:off x="411480" y="2286000"/>
            <a:ext cx="4023360" cy="402336"/>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8" name="Text 6"/>
          <p:cNvSpPr/>
          <p:nvPr/>
        </p:nvSpPr>
        <p:spPr>
          <a:xfrm>
            <a:off x="548640" y="2286000"/>
            <a:ext cx="3749040" cy="402336"/>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Built with: </a:t>
            </a:r>
            <a:pPr indent="0" marL="0">
              <a:buNone/>
            </a:pPr>
            <a:r>
              <a:rPr lang="en-US" sz="1200" dirty="0">
                <a:solidFill>
                  <a:srgbClr val="CBD5E1"/>
                </a:solidFill>
                <a:latin typeface="Calibri" pitchFamily="34" charset="0"/>
                <a:ea typeface="Calibri" pitchFamily="34" charset="-122"/>
                <a:cs typeface="Calibri" pitchFamily="34" charset="-120"/>
              </a:rPr>
              <a:t>Python Flask + JavaScript</a:t>
            </a:r>
            <a:endParaRPr lang="en-US" sz="1200" dirty="0"/>
          </a:p>
        </p:txBody>
      </p:sp>
      <p:sp>
        <p:nvSpPr>
          <p:cNvPr id="9" name="Shape 7"/>
          <p:cNvSpPr/>
          <p:nvPr/>
        </p:nvSpPr>
        <p:spPr>
          <a:xfrm>
            <a:off x="411480" y="2761488"/>
            <a:ext cx="4023360" cy="402336"/>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0" name="Text 8"/>
          <p:cNvSpPr/>
          <p:nvPr/>
        </p:nvSpPr>
        <p:spPr>
          <a:xfrm>
            <a:off x="548640" y="2761488"/>
            <a:ext cx="3749040" cy="402336"/>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Visualization: </a:t>
            </a:r>
            <a:pPr indent="0" marL="0">
              <a:buNone/>
            </a:pPr>
            <a:r>
              <a:rPr lang="en-US" sz="1200" dirty="0">
                <a:solidFill>
                  <a:srgbClr val="CBD5E1"/>
                </a:solidFill>
                <a:latin typeface="Calibri" pitchFamily="34" charset="0"/>
                <a:ea typeface="Calibri" pitchFamily="34" charset="-122"/>
                <a:cs typeface="Calibri" pitchFamily="34" charset="-120"/>
              </a:rPr>
              <a:t>HTML5 Canvas + DOM step replay</a:t>
            </a:r>
            <a:endParaRPr lang="en-US" sz="1200" dirty="0"/>
          </a:p>
        </p:txBody>
      </p:sp>
      <p:sp>
        <p:nvSpPr>
          <p:cNvPr id="11" name="Shape 9"/>
          <p:cNvSpPr/>
          <p:nvPr/>
        </p:nvSpPr>
        <p:spPr>
          <a:xfrm>
            <a:off x="411480" y="3236976"/>
            <a:ext cx="4023360" cy="402336"/>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2" name="Text 10"/>
          <p:cNvSpPr/>
          <p:nvPr/>
        </p:nvSpPr>
        <p:spPr>
          <a:xfrm>
            <a:off x="548640" y="3236976"/>
            <a:ext cx="3749040" cy="402336"/>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Algorithms: </a:t>
            </a:r>
            <a:pPr indent="0" marL="0">
              <a:buNone/>
            </a:pPr>
            <a:r>
              <a:rPr lang="en-US" sz="1200" dirty="0">
                <a:solidFill>
                  <a:srgbClr val="CBD5E1"/>
                </a:solidFill>
                <a:latin typeface="Calibri" pitchFamily="34" charset="0"/>
                <a:ea typeface="Calibri" pitchFamily="34" charset="-122"/>
                <a:cs typeface="Calibri" pitchFamily="34" charset="-120"/>
              </a:rPr>
              <a:t>5 schedulers + 10 sync mechanisms</a:t>
            </a:r>
            <a:endParaRPr lang="en-US" sz="1200" dirty="0"/>
          </a:p>
        </p:txBody>
      </p:sp>
      <p:sp>
        <p:nvSpPr>
          <p:cNvPr id="13" name="Shape 11"/>
          <p:cNvSpPr/>
          <p:nvPr/>
        </p:nvSpPr>
        <p:spPr>
          <a:xfrm>
            <a:off x="411480" y="3712464"/>
            <a:ext cx="4023360" cy="402336"/>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4" name="Text 12"/>
          <p:cNvSpPr/>
          <p:nvPr/>
        </p:nvSpPr>
        <p:spPr>
          <a:xfrm>
            <a:off x="548640" y="3712464"/>
            <a:ext cx="3749040" cy="402336"/>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Educational: </a:t>
            </a:r>
            <a:pPr indent="0" marL="0">
              <a:buNone/>
            </a:pPr>
            <a:r>
              <a:rPr lang="en-US" sz="1200" dirty="0">
                <a:solidFill>
                  <a:srgbClr val="CBD5E1"/>
                </a:solidFill>
                <a:latin typeface="Calibri" pitchFamily="34" charset="0"/>
                <a:ea typeface="Calibri" pitchFamily="34" charset="-122"/>
                <a:cs typeface="Calibri" pitchFamily="34" charset="-120"/>
              </a:rPr>
              <a:t>Step-by-step, pause/play/rewind</a:t>
            </a:r>
            <a:endParaRPr lang="en-US" sz="1200" dirty="0"/>
          </a:p>
        </p:txBody>
      </p:sp>
      <p:sp>
        <p:nvSpPr>
          <p:cNvPr id="15" name="Shape 13"/>
          <p:cNvSpPr/>
          <p:nvPr/>
        </p:nvSpPr>
        <p:spPr>
          <a:xfrm>
            <a:off x="4846320" y="932688"/>
            <a:ext cx="3977640" cy="896112"/>
          </a:xfrm>
          <a:prstGeom prst="rect">
            <a:avLst/>
          </a:prstGeom>
          <a:solidFill>
            <a:srgbClr val="1E293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16" name="Shape 14"/>
          <p:cNvSpPr/>
          <p:nvPr/>
        </p:nvSpPr>
        <p:spPr>
          <a:xfrm>
            <a:off x="4983480" y="1179576"/>
            <a:ext cx="384048" cy="384048"/>
          </a:xfrm>
          <a:prstGeom prst="ellipse">
            <a:avLst/>
          </a:prstGeom>
          <a:solidFill>
            <a:srgbClr val="2563EB"/>
          </a:solidFill>
          <a:ln w="12700">
            <a:solidFill>
              <a:srgbClr val="2563EB"/>
            </a:solidFill>
            <a:prstDash val="solid"/>
          </a:ln>
        </p:spPr>
      </p:sp>
      <p:sp>
        <p:nvSpPr>
          <p:cNvPr id="17" name="Text 15"/>
          <p:cNvSpPr/>
          <p:nvPr/>
        </p:nvSpPr>
        <p:spPr>
          <a:xfrm>
            <a:off x="4983480" y="11795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6"/>
          <p:cNvSpPr/>
          <p:nvPr/>
        </p:nvSpPr>
        <p:spPr>
          <a:xfrm>
            <a:off x="5532120" y="1005840"/>
            <a:ext cx="320040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CPU Scheduling</a:t>
            </a:r>
            <a:endParaRPr lang="en-US" sz="1300" dirty="0"/>
          </a:p>
        </p:txBody>
      </p:sp>
      <p:sp>
        <p:nvSpPr>
          <p:cNvPr id="19" name="Text 17"/>
          <p:cNvSpPr/>
          <p:nvPr/>
        </p:nvSpPr>
        <p:spPr>
          <a:xfrm>
            <a:off x="5532120" y="1389888"/>
            <a:ext cx="3200400" cy="34747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FCFS, SJF, SRTF, RR, Priority</a:t>
            </a:r>
            <a:endParaRPr lang="en-US" sz="1050" dirty="0"/>
          </a:p>
        </p:txBody>
      </p:sp>
      <p:sp>
        <p:nvSpPr>
          <p:cNvPr id="20" name="Shape 18"/>
          <p:cNvSpPr/>
          <p:nvPr/>
        </p:nvSpPr>
        <p:spPr>
          <a:xfrm>
            <a:off x="4846320" y="1956816"/>
            <a:ext cx="3977640" cy="896112"/>
          </a:xfrm>
          <a:prstGeom prst="rect">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21" name="Shape 19"/>
          <p:cNvSpPr/>
          <p:nvPr/>
        </p:nvSpPr>
        <p:spPr>
          <a:xfrm>
            <a:off x="4983480" y="2203704"/>
            <a:ext cx="384048" cy="384048"/>
          </a:xfrm>
          <a:prstGeom prst="ellipse">
            <a:avLst/>
          </a:prstGeom>
          <a:solidFill>
            <a:srgbClr val="F59E0B"/>
          </a:solidFill>
          <a:ln w="12700">
            <a:solidFill>
              <a:srgbClr val="F59E0B"/>
            </a:solidFill>
            <a:prstDash val="solid"/>
          </a:ln>
        </p:spPr>
      </p:sp>
      <p:sp>
        <p:nvSpPr>
          <p:cNvPr id="22" name="Text 20"/>
          <p:cNvSpPr/>
          <p:nvPr/>
        </p:nvSpPr>
        <p:spPr>
          <a:xfrm>
            <a:off x="4983480" y="22037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3" name="Text 21"/>
          <p:cNvSpPr/>
          <p:nvPr/>
        </p:nvSpPr>
        <p:spPr>
          <a:xfrm>
            <a:off x="5532120" y="2029968"/>
            <a:ext cx="320040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Problem Detection</a:t>
            </a:r>
            <a:endParaRPr lang="en-US" sz="1300" dirty="0"/>
          </a:p>
        </p:txBody>
      </p:sp>
      <p:sp>
        <p:nvSpPr>
          <p:cNvPr id="24" name="Text 22"/>
          <p:cNvSpPr/>
          <p:nvPr/>
        </p:nvSpPr>
        <p:spPr>
          <a:xfrm>
            <a:off x="5532120" y="2414016"/>
            <a:ext cx="3200400" cy="34747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Race, Deadlock, Starvation</a:t>
            </a:r>
            <a:endParaRPr lang="en-US" sz="1050" dirty="0"/>
          </a:p>
        </p:txBody>
      </p:sp>
      <p:sp>
        <p:nvSpPr>
          <p:cNvPr id="25" name="Shape 23"/>
          <p:cNvSpPr/>
          <p:nvPr/>
        </p:nvSpPr>
        <p:spPr>
          <a:xfrm>
            <a:off x="4846320" y="2980944"/>
            <a:ext cx="3977640" cy="896112"/>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26" name="Shape 24"/>
          <p:cNvSpPr/>
          <p:nvPr/>
        </p:nvSpPr>
        <p:spPr>
          <a:xfrm>
            <a:off x="4983480" y="3227832"/>
            <a:ext cx="384048" cy="384048"/>
          </a:xfrm>
          <a:prstGeom prst="ellipse">
            <a:avLst/>
          </a:prstGeom>
          <a:solidFill>
            <a:srgbClr val="06B6D4"/>
          </a:solidFill>
          <a:ln w="12700">
            <a:solidFill>
              <a:srgbClr val="06B6D4"/>
            </a:solidFill>
            <a:prstDash val="solid"/>
          </a:ln>
        </p:spPr>
      </p:sp>
      <p:sp>
        <p:nvSpPr>
          <p:cNvPr id="27" name="Text 25"/>
          <p:cNvSpPr/>
          <p:nvPr/>
        </p:nvSpPr>
        <p:spPr>
          <a:xfrm>
            <a:off x="4983480" y="3227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p:nvPr/>
        </p:nvSpPr>
        <p:spPr>
          <a:xfrm>
            <a:off x="5532120" y="3054096"/>
            <a:ext cx="320040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Synchronization</a:t>
            </a:r>
            <a:endParaRPr lang="en-US" sz="1300" dirty="0"/>
          </a:p>
        </p:txBody>
      </p:sp>
      <p:sp>
        <p:nvSpPr>
          <p:cNvPr id="29" name="Text 27"/>
          <p:cNvSpPr/>
          <p:nvPr/>
        </p:nvSpPr>
        <p:spPr>
          <a:xfrm>
            <a:off x="5532120" y="3438144"/>
            <a:ext cx="3200400" cy="34747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Mutex, Semaphore, Monitor +7 more</a:t>
            </a:r>
            <a:endParaRPr lang="en-US" sz="1050" dirty="0"/>
          </a:p>
        </p:txBody>
      </p:sp>
      <p:sp>
        <p:nvSpPr>
          <p:cNvPr id="30" name="Shape 28"/>
          <p:cNvSpPr/>
          <p:nvPr/>
        </p:nvSpPr>
        <p:spPr>
          <a:xfrm>
            <a:off x="4846320" y="4005072"/>
            <a:ext cx="3977640" cy="896112"/>
          </a:xfrm>
          <a:prstGeom prst="rect">
            <a:avLst/>
          </a:prstGeom>
          <a:solidFill>
            <a:srgbClr val="1E293B"/>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31" name="Shape 29"/>
          <p:cNvSpPr/>
          <p:nvPr/>
        </p:nvSpPr>
        <p:spPr>
          <a:xfrm>
            <a:off x="4983480" y="4251960"/>
            <a:ext cx="384048" cy="384048"/>
          </a:xfrm>
          <a:prstGeom prst="ellipse">
            <a:avLst/>
          </a:prstGeom>
          <a:solidFill>
            <a:srgbClr val="10B981"/>
          </a:solidFill>
          <a:ln w="12700">
            <a:solidFill>
              <a:srgbClr val="10B981"/>
            </a:solidFill>
            <a:prstDash val="solid"/>
          </a:ln>
        </p:spPr>
      </p:sp>
      <p:sp>
        <p:nvSpPr>
          <p:cNvPr id="32" name="Text 30"/>
          <p:cNvSpPr/>
          <p:nvPr/>
        </p:nvSpPr>
        <p:spPr>
          <a:xfrm>
            <a:off x="4983480" y="4251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3" name="Text 31"/>
          <p:cNvSpPr/>
          <p:nvPr/>
        </p:nvSpPr>
        <p:spPr>
          <a:xfrm>
            <a:off x="5532120" y="4078224"/>
            <a:ext cx="320040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Analysis Report</a:t>
            </a:r>
            <a:endParaRPr lang="en-US" sz="1300" dirty="0"/>
          </a:p>
        </p:txBody>
      </p:sp>
      <p:sp>
        <p:nvSpPr>
          <p:cNvPr id="34" name="Text 32"/>
          <p:cNvSpPr/>
          <p:nvPr/>
        </p:nvSpPr>
        <p:spPr>
          <a:xfrm>
            <a:off x="5532120" y="4462272"/>
            <a:ext cx="3200400" cy="34747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Scoring, ranking, recommendations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Problem Statement</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Problem Statement</a:t>
            </a:r>
            <a:endParaRPr lang="en-US" sz="2800" dirty="0"/>
          </a:p>
        </p:txBody>
      </p:sp>
      <p:sp>
        <p:nvSpPr>
          <p:cNvPr id="5" name="Text 3"/>
          <p:cNvSpPr/>
          <p:nvPr/>
        </p:nvSpPr>
        <p:spPr>
          <a:xfrm>
            <a:off x="411480" y="868680"/>
            <a:ext cx="8321040" cy="457200"/>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OS concepts are taught with static diagrams. Students rarely see the cause-and-effect chain that connects them.</a:t>
            </a:r>
            <a:endParaRPr lang="en-US" sz="1300" dirty="0"/>
          </a:p>
        </p:txBody>
      </p:sp>
      <p:sp>
        <p:nvSpPr>
          <p:cNvPr id="6" name="Shape 4"/>
          <p:cNvSpPr/>
          <p:nvPr/>
        </p:nvSpPr>
        <p:spPr>
          <a:xfrm>
            <a:off x="347472" y="1417320"/>
            <a:ext cx="2743200" cy="3383280"/>
          </a:xfrm>
          <a:prstGeom prst="rect">
            <a:avLst/>
          </a:prstGeom>
          <a:solidFill>
            <a:srgbClr val="1E293B"/>
          </a:solidFill>
          <a:ln w="19050">
            <a:solidFill>
              <a:srgbClr val="EF4444"/>
            </a:solidFill>
            <a:prstDash val="solid"/>
          </a:ln>
          <a:effectLst>
            <a:outerShdw sx="100000" sy="100000" kx="0" ky="0" algn="bl" rotWithShape="0" blurRad="101600" dist="25400" dir="8100000">
              <a:srgbClr val="000000">
                <a:alpha val="28000"/>
              </a:srgbClr>
            </a:outerShdw>
          </a:effectLst>
        </p:spPr>
      </p:sp>
      <p:sp>
        <p:nvSpPr>
          <p:cNvPr id="7" name="Shape 5"/>
          <p:cNvSpPr/>
          <p:nvPr/>
        </p:nvSpPr>
        <p:spPr>
          <a:xfrm>
            <a:off x="347472" y="1417320"/>
            <a:ext cx="2743200" cy="91440"/>
          </a:xfrm>
          <a:prstGeom prst="rect">
            <a:avLst/>
          </a:prstGeom>
          <a:solidFill>
            <a:srgbClr val="EF4444"/>
          </a:solidFill>
          <a:ln w="19050">
            <a:solidFill>
              <a:srgbClr val="EF4444"/>
            </a:solidFill>
            <a:prstDash val="solid"/>
          </a:ln>
          <a:effectLst>
            <a:outerShdw sx="100000" sy="100000" kx="0" ky="0" algn="bl" rotWithShape="0" blurRad="101600" dist="25400" dir="8100000">
              <a:srgbClr val="000000">
                <a:alpha val="28000"/>
              </a:srgbClr>
            </a:outerShdw>
          </a:effectLst>
        </p:spPr>
      </p:sp>
      <p:sp>
        <p:nvSpPr>
          <p:cNvPr id="8" name="Text 6"/>
          <p:cNvSpPr/>
          <p:nvPr/>
        </p:nvSpPr>
        <p:spPr>
          <a:xfrm>
            <a:off x="484632" y="1536192"/>
            <a:ext cx="2468880" cy="438912"/>
          </a:xfrm>
          <a:prstGeom prst="rect">
            <a:avLst/>
          </a:prstGeom>
          <a:noFill/>
          <a:ln/>
        </p:spPr>
        <p:txBody>
          <a:bodyPr wrap="square"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Abstract Concepts</a:t>
            </a:r>
            <a:endParaRPr lang="en-US" sz="1300" dirty="0"/>
          </a:p>
        </p:txBody>
      </p:sp>
      <p:sp>
        <p:nvSpPr>
          <p:cNvPr id="9" name="Text 7"/>
          <p:cNvSpPr/>
          <p:nvPr/>
        </p:nvSpPr>
        <p:spPr>
          <a:xfrm>
            <a:off x="484632" y="2084832"/>
            <a:ext cx="2468880" cy="502920"/>
          </a:xfrm>
          <a:prstGeom prst="rect">
            <a:avLst/>
          </a:prstGeom>
          <a:noFill/>
          <a:ln/>
        </p:spPr>
        <p:txBody>
          <a:bodyPr wrap="square" rtlCol="0" anchor="t"/>
          <a:lstStyle/>
          <a:p>
            <a:pPr indent="0" marL="0">
              <a:buNone/>
            </a:pPr>
            <a:r>
              <a:rPr lang="en-US" sz="1100" b="1" dirty="0">
                <a:solidFill>
                  <a:srgbClr val="EF444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Critical sections explained with text only</a:t>
            </a:r>
            <a:endParaRPr lang="en-US" sz="1100" dirty="0"/>
          </a:p>
        </p:txBody>
      </p:sp>
      <p:sp>
        <p:nvSpPr>
          <p:cNvPr id="10" name="Text 8"/>
          <p:cNvSpPr/>
          <p:nvPr/>
        </p:nvSpPr>
        <p:spPr>
          <a:xfrm>
            <a:off x="484632" y="2651760"/>
            <a:ext cx="2468880" cy="502920"/>
          </a:xfrm>
          <a:prstGeom prst="rect">
            <a:avLst/>
          </a:prstGeom>
          <a:noFill/>
          <a:ln/>
        </p:spPr>
        <p:txBody>
          <a:bodyPr wrap="square" rtlCol="0" anchor="t"/>
          <a:lstStyle/>
          <a:p>
            <a:pPr indent="0" marL="0">
              <a:buNone/>
            </a:pPr>
            <a:r>
              <a:rPr lang="en-US" sz="1100" b="1" dirty="0">
                <a:solidFill>
                  <a:srgbClr val="EF444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Peterson's / Dekker's seen as pseudo-code</a:t>
            </a:r>
            <a:endParaRPr lang="en-US" sz="1100" dirty="0"/>
          </a:p>
        </p:txBody>
      </p:sp>
      <p:sp>
        <p:nvSpPr>
          <p:cNvPr id="11" name="Text 9"/>
          <p:cNvSpPr/>
          <p:nvPr/>
        </p:nvSpPr>
        <p:spPr>
          <a:xfrm>
            <a:off x="484632" y="3218688"/>
            <a:ext cx="2468880" cy="502920"/>
          </a:xfrm>
          <a:prstGeom prst="rect">
            <a:avLst/>
          </a:prstGeom>
          <a:noFill/>
          <a:ln/>
        </p:spPr>
        <p:txBody>
          <a:bodyPr wrap="square" rtlCol="0" anchor="t"/>
          <a:lstStyle/>
          <a:p>
            <a:pPr indent="0" marL="0">
              <a:buNone/>
            </a:pPr>
            <a:r>
              <a:rPr lang="en-US" sz="1100" b="1" dirty="0">
                <a:solidFill>
                  <a:srgbClr val="EF444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No step-by-step state walkthrough available</a:t>
            </a:r>
            <a:endParaRPr lang="en-US" sz="1100" dirty="0"/>
          </a:p>
        </p:txBody>
      </p:sp>
      <p:sp>
        <p:nvSpPr>
          <p:cNvPr id="12" name="Shape 10"/>
          <p:cNvSpPr/>
          <p:nvPr/>
        </p:nvSpPr>
        <p:spPr>
          <a:xfrm>
            <a:off x="3218688" y="1417320"/>
            <a:ext cx="2743200" cy="3383280"/>
          </a:xfrm>
          <a:prstGeom prst="rect">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3" name="Shape 11"/>
          <p:cNvSpPr/>
          <p:nvPr/>
        </p:nvSpPr>
        <p:spPr>
          <a:xfrm>
            <a:off x="3218688" y="1417320"/>
            <a:ext cx="2743200" cy="91440"/>
          </a:xfrm>
          <a:prstGeom prst="rect">
            <a:avLst/>
          </a:prstGeom>
          <a:solidFill>
            <a:srgbClr val="F59E0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4" name="Text 12"/>
          <p:cNvSpPr/>
          <p:nvPr/>
        </p:nvSpPr>
        <p:spPr>
          <a:xfrm>
            <a:off x="3355848" y="1536192"/>
            <a:ext cx="2468880" cy="43891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Hidden Cause &amp; Effect</a:t>
            </a:r>
            <a:endParaRPr lang="en-US" sz="1300" dirty="0"/>
          </a:p>
        </p:txBody>
      </p:sp>
      <p:sp>
        <p:nvSpPr>
          <p:cNvPr id="15" name="Text 13"/>
          <p:cNvSpPr/>
          <p:nvPr/>
        </p:nvSpPr>
        <p:spPr>
          <a:xfrm>
            <a:off x="3355848" y="2084832"/>
            <a:ext cx="2468880" cy="502920"/>
          </a:xfrm>
          <a:prstGeom prst="rect">
            <a:avLst/>
          </a:prstGeom>
          <a:noFill/>
          <a:ln/>
        </p:spPr>
        <p:txBody>
          <a:bodyPr wrap="square" rtlCol="0" anchor="t"/>
          <a:lstStyle/>
          <a:p>
            <a:pPr indent="0" marL="0">
              <a:buNone/>
            </a:pPr>
            <a:r>
              <a:rPr lang="en-US" sz="1100" b="1" dirty="0">
                <a:solidFill>
                  <a:srgbClr val="F59E0B"/>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Scheduling → synchronization link invisible</a:t>
            </a:r>
            <a:endParaRPr lang="en-US" sz="1100" dirty="0"/>
          </a:p>
        </p:txBody>
      </p:sp>
      <p:sp>
        <p:nvSpPr>
          <p:cNvPr id="16" name="Text 14"/>
          <p:cNvSpPr/>
          <p:nvPr/>
        </p:nvSpPr>
        <p:spPr>
          <a:xfrm>
            <a:off x="3355848" y="2651760"/>
            <a:ext cx="2468880" cy="502920"/>
          </a:xfrm>
          <a:prstGeom prst="rect">
            <a:avLst/>
          </a:prstGeom>
          <a:noFill/>
          <a:ln/>
        </p:spPr>
        <p:txBody>
          <a:bodyPr wrap="square" rtlCol="0" anchor="t"/>
          <a:lstStyle/>
          <a:p>
            <a:pPr indent="0" marL="0">
              <a:buNone/>
            </a:pPr>
            <a:r>
              <a:rPr lang="en-US" sz="1100" b="1" dirty="0">
                <a:solidFill>
                  <a:srgbClr val="F59E0B"/>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Round Robin exposes more races than FCFS — rarely shown</a:t>
            </a:r>
            <a:endParaRPr lang="en-US" sz="1100" dirty="0"/>
          </a:p>
        </p:txBody>
      </p:sp>
      <p:sp>
        <p:nvSpPr>
          <p:cNvPr id="17" name="Text 15"/>
          <p:cNvSpPr/>
          <p:nvPr/>
        </p:nvSpPr>
        <p:spPr>
          <a:xfrm>
            <a:off x="3355848" y="3218688"/>
            <a:ext cx="2468880" cy="502920"/>
          </a:xfrm>
          <a:prstGeom prst="rect">
            <a:avLst/>
          </a:prstGeom>
          <a:noFill/>
          <a:ln/>
        </p:spPr>
        <p:txBody>
          <a:bodyPr wrap="square" rtlCol="0" anchor="t"/>
          <a:lstStyle/>
          <a:p>
            <a:pPr indent="0" marL="0">
              <a:buNone/>
            </a:pPr>
            <a:r>
              <a:rPr lang="en-US" sz="1100" b="1" dirty="0">
                <a:solidFill>
                  <a:srgbClr val="F59E0B"/>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Students can't observe the interleaving that causes bugs</a:t>
            </a:r>
            <a:endParaRPr lang="en-US" sz="1100" dirty="0"/>
          </a:p>
        </p:txBody>
      </p:sp>
      <p:sp>
        <p:nvSpPr>
          <p:cNvPr id="18" name="Shape 16"/>
          <p:cNvSpPr/>
          <p:nvPr/>
        </p:nvSpPr>
        <p:spPr>
          <a:xfrm>
            <a:off x="6089904" y="1417320"/>
            <a:ext cx="2743200" cy="3383280"/>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9" name="Shape 17"/>
          <p:cNvSpPr/>
          <p:nvPr/>
        </p:nvSpPr>
        <p:spPr>
          <a:xfrm>
            <a:off x="6089904" y="1417320"/>
            <a:ext cx="2743200" cy="91440"/>
          </a:xfrm>
          <a:prstGeom prst="rect">
            <a:avLst/>
          </a:prstGeom>
          <a:solidFill>
            <a:srgbClr val="06B6D4"/>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20" name="Text 18"/>
          <p:cNvSpPr/>
          <p:nvPr/>
        </p:nvSpPr>
        <p:spPr>
          <a:xfrm>
            <a:off x="6227064" y="1536192"/>
            <a:ext cx="2468880" cy="438912"/>
          </a:xfrm>
          <a:prstGeom prst="rect">
            <a:avLst/>
          </a:prstGeom>
          <a:noFill/>
          <a:ln/>
        </p:spPr>
        <p:txBody>
          <a:bodyPr wrap="square"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No Interactive Platform</a:t>
            </a:r>
            <a:endParaRPr lang="en-US" sz="1300" dirty="0"/>
          </a:p>
        </p:txBody>
      </p:sp>
      <p:sp>
        <p:nvSpPr>
          <p:cNvPr id="21" name="Text 19"/>
          <p:cNvSpPr/>
          <p:nvPr/>
        </p:nvSpPr>
        <p:spPr>
          <a:xfrm>
            <a:off x="6227064" y="2084832"/>
            <a:ext cx="2468880" cy="502920"/>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No single tool connects all OS phases</a:t>
            </a:r>
            <a:endParaRPr lang="en-US" sz="1100" dirty="0"/>
          </a:p>
        </p:txBody>
      </p:sp>
      <p:sp>
        <p:nvSpPr>
          <p:cNvPr id="22" name="Text 20"/>
          <p:cNvSpPr/>
          <p:nvPr/>
        </p:nvSpPr>
        <p:spPr>
          <a:xfrm>
            <a:off x="6227064" y="2651760"/>
            <a:ext cx="2468880" cy="502920"/>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Semaphore count changes not visualized live</a:t>
            </a:r>
            <a:endParaRPr lang="en-US" sz="1100" dirty="0"/>
          </a:p>
        </p:txBody>
      </p:sp>
      <p:sp>
        <p:nvSpPr>
          <p:cNvPr id="23" name="Text 21"/>
          <p:cNvSpPr/>
          <p:nvPr/>
        </p:nvSpPr>
        <p:spPr>
          <a:xfrm>
            <a:off x="6227064" y="3218688"/>
            <a:ext cx="2468880" cy="502920"/>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Difficult to compare 10 algorithms simultaneously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Project Objectives</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Project Objectives</a:t>
            </a:r>
            <a:endParaRPr lang="en-US" sz="2800" dirty="0"/>
          </a:p>
        </p:txBody>
      </p:sp>
      <p:sp>
        <p:nvSpPr>
          <p:cNvPr id="5" name="Shape 3"/>
          <p:cNvSpPr/>
          <p:nvPr/>
        </p:nvSpPr>
        <p:spPr>
          <a:xfrm>
            <a:off x="347472" y="1005840"/>
            <a:ext cx="4114800" cy="1847088"/>
          </a:xfrm>
          <a:prstGeom prst="rect">
            <a:avLst/>
          </a:prstGeom>
          <a:solidFill>
            <a:srgbClr val="1E293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6" name="Shape 4"/>
          <p:cNvSpPr/>
          <p:nvPr/>
        </p:nvSpPr>
        <p:spPr>
          <a:xfrm>
            <a:off x="530352" y="1170432"/>
            <a:ext cx="384048" cy="384048"/>
          </a:xfrm>
          <a:prstGeom prst="ellipse">
            <a:avLst/>
          </a:prstGeom>
          <a:solidFill>
            <a:srgbClr val="2563EB"/>
          </a:solidFill>
          <a:ln w="12700">
            <a:solidFill>
              <a:srgbClr val="2563EB"/>
            </a:solidFill>
            <a:prstDash val="solid"/>
          </a:ln>
        </p:spPr>
      </p:sp>
      <p:sp>
        <p:nvSpPr>
          <p:cNvPr id="7" name="Text 5"/>
          <p:cNvSpPr/>
          <p:nvPr/>
        </p:nvSpPr>
        <p:spPr>
          <a:xfrm>
            <a:off x="530352" y="1170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60704" y="1115568"/>
            <a:ext cx="3273552" cy="50292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Interactive CPU Scheduling</a:t>
            </a:r>
            <a:endParaRPr lang="en-US" sz="1350" dirty="0"/>
          </a:p>
        </p:txBody>
      </p:sp>
      <p:sp>
        <p:nvSpPr>
          <p:cNvPr id="9" name="Text 7"/>
          <p:cNvSpPr/>
          <p:nvPr/>
        </p:nvSpPr>
        <p:spPr>
          <a:xfrm>
            <a:off x="530352" y="1691640"/>
            <a:ext cx="3749040" cy="1051560"/>
          </a:xfrm>
          <a:prstGeom prst="rect">
            <a:avLst/>
          </a:prstGeom>
          <a:noFill/>
          <a:ln/>
        </p:spPr>
        <p:txBody>
          <a:bodyPr wrap="square" rtlCol="0" anchor="t"/>
          <a:lstStyle/>
          <a:p>
            <a:pPr indent="0" marL="0">
              <a:buNone/>
            </a:pPr>
            <a:r>
              <a:rPr lang="en-US" sz="1150" dirty="0">
                <a:solidFill>
                  <a:srgbClr val="CBD5E1"/>
                </a:solidFill>
                <a:latin typeface="Calibri" pitchFamily="34" charset="0"/>
                <a:ea typeface="Calibri" pitchFamily="34" charset="-122"/>
                <a:cs typeface="Calibri" pitchFamily="34" charset="-120"/>
              </a:rPr>
              <a:t>Let students define processes, run 5 algorithms, and compare Gantt charts + metrics (CT, TAT, WT, RT) side by side in real time.</a:t>
            </a:r>
            <a:endParaRPr lang="en-US" sz="1150" dirty="0"/>
          </a:p>
        </p:txBody>
      </p:sp>
      <p:sp>
        <p:nvSpPr>
          <p:cNvPr id="10" name="Shape 8"/>
          <p:cNvSpPr/>
          <p:nvPr/>
        </p:nvSpPr>
        <p:spPr>
          <a:xfrm>
            <a:off x="4690872" y="1005840"/>
            <a:ext cx="4114800" cy="1847088"/>
          </a:xfrm>
          <a:prstGeom prst="rect">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1" name="Shape 9"/>
          <p:cNvSpPr/>
          <p:nvPr/>
        </p:nvSpPr>
        <p:spPr>
          <a:xfrm>
            <a:off x="4873752" y="1170432"/>
            <a:ext cx="384048" cy="384048"/>
          </a:xfrm>
          <a:prstGeom prst="ellipse">
            <a:avLst/>
          </a:prstGeom>
          <a:solidFill>
            <a:srgbClr val="F59E0B"/>
          </a:solidFill>
          <a:ln w="12700">
            <a:solidFill>
              <a:srgbClr val="F59E0B"/>
            </a:solidFill>
            <a:prstDash val="solid"/>
          </a:ln>
        </p:spPr>
      </p:sp>
      <p:sp>
        <p:nvSpPr>
          <p:cNvPr id="12" name="Text 10"/>
          <p:cNvSpPr/>
          <p:nvPr/>
        </p:nvSpPr>
        <p:spPr>
          <a:xfrm>
            <a:off x="4873752" y="1170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404104" y="1115568"/>
            <a:ext cx="3273552" cy="50292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Synchronization Problem Detection</a:t>
            </a:r>
            <a:endParaRPr lang="en-US" sz="1350" dirty="0"/>
          </a:p>
        </p:txBody>
      </p:sp>
      <p:sp>
        <p:nvSpPr>
          <p:cNvPr id="14" name="Text 12"/>
          <p:cNvSpPr/>
          <p:nvPr/>
        </p:nvSpPr>
        <p:spPr>
          <a:xfrm>
            <a:off x="4873752" y="1691640"/>
            <a:ext cx="3749040" cy="1051560"/>
          </a:xfrm>
          <a:prstGeom prst="rect">
            <a:avLst/>
          </a:prstGeom>
          <a:noFill/>
          <a:ln/>
        </p:spPr>
        <p:txBody>
          <a:bodyPr wrap="square" rtlCol="0" anchor="t"/>
          <a:lstStyle/>
          <a:p>
            <a:pPr indent="0" marL="0">
              <a:buNone/>
            </a:pPr>
            <a:r>
              <a:rPr lang="en-US" sz="1150" dirty="0">
                <a:solidFill>
                  <a:srgbClr val="CBD5E1"/>
                </a:solidFill>
                <a:latin typeface="Calibri" pitchFamily="34" charset="0"/>
                <a:ea typeface="Calibri" pitchFamily="34" charset="-122"/>
                <a:cs typeface="Calibri" pitchFamily="34" charset="-120"/>
              </a:rPr>
              <a:t>Automatically detect race conditions, critical section violations, deadlock, and starvation from the Phase 1 execution trace — without any extra user input.</a:t>
            </a:r>
            <a:endParaRPr lang="en-US" sz="1150" dirty="0"/>
          </a:p>
        </p:txBody>
      </p:sp>
      <p:sp>
        <p:nvSpPr>
          <p:cNvPr id="15" name="Shape 13"/>
          <p:cNvSpPr/>
          <p:nvPr/>
        </p:nvSpPr>
        <p:spPr>
          <a:xfrm>
            <a:off x="347472" y="3017520"/>
            <a:ext cx="4114800" cy="1847088"/>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6" name="Shape 14"/>
          <p:cNvSpPr/>
          <p:nvPr/>
        </p:nvSpPr>
        <p:spPr>
          <a:xfrm>
            <a:off x="530352" y="3182112"/>
            <a:ext cx="384048" cy="384048"/>
          </a:xfrm>
          <a:prstGeom prst="ellipse">
            <a:avLst/>
          </a:prstGeom>
          <a:solidFill>
            <a:srgbClr val="06B6D4"/>
          </a:solidFill>
          <a:ln w="12700">
            <a:solidFill>
              <a:srgbClr val="06B6D4"/>
            </a:solidFill>
            <a:prstDash val="solid"/>
          </a:ln>
        </p:spPr>
      </p:sp>
      <p:sp>
        <p:nvSpPr>
          <p:cNvPr id="17" name="Text 15"/>
          <p:cNvSpPr/>
          <p:nvPr/>
        </p:nvSpPr>
        <p:spPr>
          <a:xfrm>
            <a:off x="530352" y="3182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060704" y="3127248"/>
            <a:ext cx="3273552" cy="50292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Live Critical Section Visualization</a:t>
            </a:r>
            <a:endParaRPr lang="en-US" sz="1350" dirty="0"/>
          </a:p>
        </p:txBody>
      </p:sp>
      <p:sp>
        <p:nvSpPr>
          <p:cNvPr id="19" name="Text 17"/>
          <p:cNvSpPr/>
          <p:nvPr/>
        </p:nvSpPr>
        <p:spPr>
          <a:xfrm>
            <a:off x="530352" y="3703320"/>
            <a:ext cx="3749040" cy="1051560"/>
          </a:xfrm>
          <a:prstGeom prst="rect">
            <a:avLst/>
          </a:prstGeom>
          <a:noFill/>
          <a:ln/>
        </p:spPr>
        <p:txBody>
          <a:bodyPr wrap="square" rtlCol="0" anchor="t"/>
          <a:lstStyle/>
          <a:p>
            <a:pPr indent="0" marL="0">
              <a:buNone/>
            </a:pPr>
            <a:r>
              <a:rPr lang="en-US" sz="1150" dirty="0">
                <a:solidFill>
                  <a:srgbClr val="CBD5E1"/>
                </a:solidFill>
                <a:latin typeface="Calibri" pitchFamily="34" charset="0"/>
                <a:ea typeface="Calibri" pitchFamily="34" charset="-122"/>
                <a:cs typeface="Calibri" pitchFamily="34" charset="-120"/>
              </a:rPr>
              <a:t>Show each process entering/leaving the shared resource graphically — active process glows inside the box, waiters queue outside with a directional arrow.</a:t>
            </a:r>
            <a:endParaRPr lang="en-US" sz="1150" dirty="0"/>
          </a:p>
        </p:txBody>
      </p:sp>
      <p:sp>
        <p:nvSpPr>
          <p:cNvPr id="20" name="Shape 18"/>
          <p:cNvSpPr/>
          <p:nvPr/>
        </p:nvSpPr>
        <p:spPr>
          <a:xfrm>
            <a:off x="4690872" y="3017520"/>
            <a:ext cx="4114800" cy="1847088"/>
          </a:xfrm>
          <a:prstGeom prst="rect">
            <a:avLst/>
          </a:prstGeom>
          <a:solidFill>
            <a:srgbClr val="1E293B"/>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21" name="Shape 19"/>
          <p:cNvSpPr/>
          <p:nvPr/>
        </p:nvSpPr>
        <p:spPr>
          <a:xfrm>
            <a:off x="4873752" y="3182112"/>
            <a:ext cx="384048" cy="384048"/>
          </a:xfrm>
          <a:prstGeom prst="ellipse">
            <a:avLst/>
          </a:prstGeom>
          <a:solidFill>
            <a:srgbClr val="10B981"/>
          </a:solidFill>
          <a:ln w="12700">
            <a:solidFill>
              <a:srgbClr val="10B981"/>
            </a:solidFill>
            <a:prstDash val="solid"/>
          </a:ln>
        </p:spPr>
      </p:sp>
      <p:sp>
        <p:nvSpPr>
          <p:cNvPr id="22" name="Text 20"/>
          <p:cNvSpPr/>
          <p:nvPr/>
        </p:nvSpPr>
        <p:spPr>
          <a:xfrm>
            <a:off x="4873752" y="3182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5404104" y="3127248"/>
            <a:ext cx="3273552" cy="50292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Comparative Algorithm Analysis</a:t>
            </a:r>
            <a:endParaRPr lang="en-US" sz="1350" dirty="0"/>
          </a:p>
        </p:txBody>
      </p:sp>
      <p:sp>
        <p:nvSpPr>
          <p:cNvPr id="24" name="Text 22"/>
          <p:cNvSpPr/>
          <p:nvPr/>
        </p:nvSpPr>
        <p:spPr>
          <a:xfrm>
            <a:off x="4873752" y="3703320"/>
            <a:ext cx="3749040" cy="1051560"/>
          </a:xfrm>
          <a:prstGeom prst="rect">
            <a:avLst/>
          </a:prstGeom>
          <a:noFill/>
          <a:ln/>
        </p:spPr>
        <p:txBody>
          <a:bodyPr wrap="square" rtlCol="0" anchor="t"/>
          <a:lstStyle/>
          <a:p>
            <a:pPr indent="0" marL="0">
              <a:buNone/>
            </a:pPr>
            <a:r>
              <a:rPr lang="en-US" sz="1150" dirty="0">
                <a:solidFill>
                  <a:srgbClr val="CBD5E1"/>
                </a:solidFill>
                <a:latin typeface="Calibri" pitchFamily="34" charset="0"/>
                <a:ea typeface="Calibri" pitchFamily="34" charset="-122"/>
                <a:cs typeface="Calibri" pitchFamily="34" charset="-120"/>
              </a:rPr>
              <a:t>Score all 10 sync techniques on mutual exclusion correctness, deadlock freedom, and efficiency. Rank them automatically from real simulation data.</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Applied OS Concepts</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Applied OS Concepts</a:t>
            </a:r>
            <a:endParaRPr lang="en-US" sz="2800" dirty="0"/>
          </a:p>
        </p:txBody>
      </p:sp>
      <p:sp>
        <p:nvSpPr>
          <p:cNvPr id="5" name="Shape 3"/>
          <p:cNvSpPr/>
          <p:nvPr/>
        </p:nvSpPr>
        <p:spPr>
          <a:xfrm>
            <a:off x="347472" y="960120"/>
            <a:ext cx="2706624" cy="1874520"/>
          </a:xfrm>
          <a:prstGeom prst="rect">
            <a:avLst/>
          </a:prstGeom>
          <a:solidFill>
            <a:srgbClr val="1E293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6" name="Shape 4"/>
          <p:cNvSpPr/>
          <p:nvPr/>
        </p:nvSpPr>
        <p:spPr>
          <a:xfrm>
            <a:off x="347472" y="960120"/>
            <a:ext cx="2706624" cy="73152"/>
          </a:xfrm>
          <a:prstGeom prst="rect">
            <a:avLst/>
          </a:prstGeom>
          <a:solidFill>
            <a:srgbClr val="2563E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7" name="Text 5"/>
          <p:cNvSpPr/>
          <p:nvPr/>
        </p:nvSpPr>
        <p:spPr>
          <a:xfrm>
            <a:off x="484632" y="1097280"/>
            <a:ext cx="2423160" cy="43891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CPU Scheduling</a:t>
            </a:r>
            <a:endParaRPr lang="en-US" sz="1250" dirty="0"/>
          </a:p>
        </p:txBody>
      </p:sp>
      <p:sp>
        <p:nvSpPr>
          <p:cNvPr id="8" name="Text 6"/>
          <p:cNvSpPr/>
          <p:nvPr/>
        </p:nvSpPr>
        <p:spPr>
          <a:xfrm>
            <a:off x="484632" y="1600200"/>
            <a:ext cx="2423160" cy="347472"/>
          </a:xfrm>
          <a:prstGeom prst="rect">
            <a:avLst/>
          </a:prstGeom>
          <a:noFill/>
          <a:ln/>
        </p:spPr>
        <p:txBody>
          <a:bodyPr wrap="square" rtlCol="0" anchor="t"/>
          <a:lstStyle/>
          <a:p>
            <a:pPr indent="0" marL="0">
              <a:buNone/>
            </a:pPr>
            <a:r>
              <a:rPr lang="en-US" sz="1050" dirty="0">
                <a:solidFill>
                  <a:srgbClr val="2563EB"/>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FCFS · SJF · SRTF</a:t>
            </a:r>
            <a:endParaRPr lang="en-US" sz="1050" dirty="0"/>
          </a:p>
        </p:txBody>
      </p:sp>
      <p:sp>
        <p:nvSpPr>
          <p:cNvPr id="9" name="Text 7"/>
          <p:cNvSpPr/>
          <p:nvPr/>
        </p:nvSpPr>
        <p:spPr>
          <a:xfrm>
            <a:off x="484632" y="1993392"/>
            <a:ext cx="2423160" cy="347472"/>
          </a:xfrm>
          <a:prstGeom prst="rect">
            <a:avLst/>
          </a:prstGeom>
          <a:noFill/>
          <a:ln/>
        </p:spPr>
        <p:txBody>
          <a:bodyPr wrap="square" rtlCol="0" anchor="t"/>
          <a:lstStyle/>
          <a:p>
            <a:pPr indent="0" marL="0">
              <a:buNone/>
            </a:pPr>
            <a:r>
              <a:rPr lang="en-US" sz="1050" dirty="0">
                <a:solidFill>
                  <a:srgbClr val="2563EB"/>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Round Robin · Priority</a:t>
            </a:r>
            <a:endParaRPr lang="en-US" sz="1050" dirty="0"/>
          </a:p>
        </p:txBody>
      </p:sp>
      <p:sp>
        <p:nvSpPr>
          <p:cNvPr id="10" name="Text 8"/>
          <p:cNvSpPr/>
          <p:nvPr/>
        </p:nvSpPr>
        <p:spPr>
          <a:xfrm>
            <a:off x="484632" y="2386584"/>
            <a:ext cx="2423160" cy="347472"/>
          </a:xfrm>
          <a:prstGeom prst="rect">
            <a:avLst/>
          </a:prstGeom>
          <a:noFill/>
          <a:ln/>
        </p:spPr>
        <p:txBody>
          <a:bodyPr wrap="square" rtlCol="0" anchor="t"/>
          <a:lstStyle/>
          <a:p>
            <a:pPr indent="0" marL="0">
              <a:buNone/>
            </a:pPr>
            <a:r>
              <a:rPr lang="en-US" sz="1050" dirty="0">
                <a:solidFill>
                  <a:srgbClr val="2563EB"/>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CT, TAT, WT, RT metrics</a:t>
            </a:r>
            <a:endParaRPr lang="en-US" sz="1050" dirty="0"/>
          </a:p>
        </p:txBody>
      </p:sp>
      <p:sp>
        <p:nvSpPr>
          <p:cNvPr id="11" name="Shape 9"/>
          <p:cNvSpPr/>
          <p:nvPr/>
        </p:nvSpPr>
        <p:spPr>
          <a:xfrm>
            <a:off x="3200400" y="960120"/>
            <a:ext cx="2706624" cy="1874520"/>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2" name="Shape 10"/>
          <p:cNvSpPr/>
          <p:nvPr/>
        </p:nvSpPr>
        <p:spPr>
          <a:xfrm>
            <a:off x="3200400" y="960120"/>
            <a:ext cx="2706624" cy="73152"/>
          </a:xfrm>
          <a:prstGeom prst="rect">
            <a:avLst/>
          </a:prstGeom>
          <a:solidFill>
            <a:srgbClr val="06B6D4"/>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3" name="Text 11"/>
          <p:cNvSpPr/>
          <p:nvPr/>
        </p:nvSpPr>
        <p:spPr>
          <a:xfrm>
            <a:off x="3337560" y="1097280"/>
            <a:ext cx="2423160" cy="438912"/>
          </a:xfrm>
          <a:prstGeom prst="rect">
            <a:avLst/>
          </a:prstGeom>
          <a:noFill/>
          <a:ln/>
        </p:spPr>
        <p:txBody>
          <a:bodyPr wrap="square" rtlCol="0" anchor="ctr"/>
          <a:lstStyle/>
          <a:p>
            <a:pPr indent="0" marL="0">
              <a:buNone/>
            </a:pPr>
            <a:r>
              <a:rPr lang="en-US" sz="1250" b="1" dirty="0">
                <a:solidFill>
                  <a:srgbClr val="06B6D4"/>
                </a:solidFill>
                <a:latin typeface="Calibri" pitchFamily="34" charset="0"/>
                <a:ea typeface="Calibri" pitchFamily="34" charset="-122"/>
                <a:cs typeface="Calibri" pitchFamily="34" charset="-120"/>
              </a:rPr>
              <a:t>Critical Section</a:t>
            </a:r>
            <a:endParaRPr lang="en-US" sz="1250" dirty="0"/>
          </a:p>
        </p:txBody>
      </p:sp>
      <p:sp>
        <p:nvSpPr>
          <p:cNvPr id="14" name="Text 12"/>
          <p:cNvSpPr/>
          <p:nvPr/>
        </p:nvSpPr>
        <p:spPr>
          <a:xfrm>
            <a:off x="3337560" y="1600200"/>
            <a:ext cx="2423160" cy="347472"/>
          </a:xfrm>
          <a:prstGeom prst="rect">
            <a:avLst/>
          </a:prstGeom>
          <a:noFill/>
          <a:ln/>
        </p:spPr>
        <p:txBody>
          <a:bodyPr wrap="square" rtlCol="0" anchor="t"/>
          <a:lstStyle/>
          <a:p>
            <a:pPr indent="0" marL="0">
              <a:buNone/>
            </a:pPr>
            <a:r>
              <a:rPr lang="en-US" sz="1050" dirty="0">
                <a:solidFill>
                  <a:srgbClr val="06B6D4"/>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Mutual Exclusion</a:t>
            </a:r>
            <a:endParaRPr lang="en-US" sz="1050" dirty="0"/>
          </a:p>
        </p:txBody>
      </p:sp>
      <p:sp>
        <p:nvSpPr>
          <p:cNvPr id="15" name="Text 13"/>
          <p:cNvSpPr/>
          <p:nvPr/>
        </p:nvSpPr>
        <p:spPr>
          <a:xfrm>
            <a:off x="3337560" y="1993392"/>
            <a:ext cx="2423160" cy="347472"/>
          </a:xfrm>
          <a:prstGeom prst="rect">
            <a:avLst/>
          </a:prstGeom>
          <a:noFill/>
          <a:ln/>
        </p:spPr>
        <p:txBody>
          <a:bodyPr wrap="square" rtlCol="0" anchor="t"/>
          <a:lstStyle/>
          <a:p>
            <a:pPr indent="0" marL="0">
              <a:buNone/>
            </a:pPr>
            <a:r>
              <a:rPr lang="en-US" sz="1050" dirty="0">
                <a:solidFill>
                  <a:srgbClr val="06B6D4"/>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Progress + Bounded Wait</a:t>
            </a:r>
            <a:endParaRPr lang="en-US" sz="1050" dirty="0"/>
          </a:p>
        </p:txBody>
      </p:sp>
      <p:sp>
        <p:nvSpPr>
          <p:cNvPr id="16" name="Text 14"/>
          <p:cNvSpPr/>
          <p:nvPr/>
        </p:nvSpPr>
        <p:spPr>
          <a:xfrm>
            <a:off x="3337560" y="2386584"/>
            <a:ext cx="2423160" cy="347472"/>
          </a:xfrm>
          <a:prstGeom prst="rect">
            <a:avLst/>
          </a:prstGeom>
          <a:noFill/>
          <a:ln/>
        </p:spPr>
        <p:txBody>
          <a:bodyPr wrap="square" rtlCol="0" anchor="t"/>
          <a:lstStyle/>
          <a:p>
            <a:pPr indent="0" marL="0">
              <a:buNone/>
            </a:pPr>
            <a:r>
              <a:rPr lang="en-US" sz="1050" dirty="0">
                <a:solidFill>
                  <a:srgbClr val="06B6D4"/>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Entry / Exit sections</a:t>
            </a:r>
            <a:endParaRPr lang="en-US" sz="1050" dirty="0"/>
          </a:p>
        </p:txBody>
      </p:sp>
      <p:sp>
        <p:nvSpPr>
          <p:cNvPr id="17" name="Shape 15"/>
          <p:cNvSpPr/>
          <p:nvPr/>
        </p:nvSpPr>
        <p:spPr>
          <a:xfrm>
            <a:off x="6053328" y="960120"/>
            <a:ext cx="2706624" cy="1874520"/>
          </a:xfrm>
          <a:prstGeom prst="rect">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8" name="Shape 16"/>
          <p:cNvSpPr/>
          <p:nvPr/>
        </p:nvSpPr>
        <p:spPr>
          <a:xfrm>
            <a:off x="6053328" y="960120"/>
            <a:ext cx="2706624" cy="73152"/>
          </a:xfrm>
          <a:prstGeom prst="rect">
            <a:avLst/>
          </a:prstGeom>
          <a:solidFill>
            <a:srgbClr val="F59E0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9" name="Text 17"/>
          <p:cNvSpPr/>
          <p:nvPr/>
        </p:nvSpPr>
        <p:spPr>
          <a:xfrm>
            <a:off x="6190488" y="1097280"/>
            <a:ext cx="2423160" cy="438912"/>
          </a:xfrm>
          <a:prstGeom prst="rect">
            <a:avLst/>
          </a:prstGeom>
          <a:noFill/>
          <a:ln/>
        </p:spPr>
        <p:txBody>
          <a:bodyPr wrap="square"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Software Solutions</a:t>
            </a:r>
            <a:endParaRPr lang="en-US" sz="1250" dirty="0"/>
          </a:p>
        </p:txBody>
      </p:sp>
      <p:sp>
        <p:nvSpPr>
          <p:cNvPr id="20" name="Text 18"/>
          <p:cNvSpPr/>
          <p:nvPr/>
        </p:nvSpPr>
        <p:spPr>
          <a:xfrm>
            <a:off x="6190488" y="1600200"/>
            <a:ext cx="2423160" cy="347472"/>
          </a:xfrm>
          <a:prstGeom prst="rect">
            <a:avLst/>
          </a:prstGeom>
          <a:noFill/>
          <a:ln/>
        </p:spPr>
        <p:txBody>
          <a:bodyPr wrap="square" rtlCol="0" anchor="t"/>
          <a:lstStyle/>
          <a:p>
            <a:pPr indent="0" marL="0">
              <a:buNone/>
            </a:pPr>
            <a:r>
              <a:rPr lang="en-US" sz="1050" dirty="0">
                <a:solidFill>
                  <a:srgbClr val="F59E0B"/>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Peterson's Algorithm</a:t>
            </a:r>
            <a:endParaRPr lang="en-US" sz="1050" dirty="0"/>
          </a:p>
        </p:txBody>
      </p:sp>
      <p:sp>
        <p:nvSpPr>
          <p:cNvPr id="21" name="Text 19"/>
          <p:cNvSpPr/>
          <p:nvPr/>
        </p:nvSpPr>
        <p:spPr>
          <a:xfrm>
            <a:off x="6190488" y="1993392"/>
            <a:ext cx="2423160" cy="347472"/>
          </a:xfrm>
          <a:prstGeom prst="rect">
            <a:avLst/>
          </a:prstGeom>
          <a:noFill/>
          <a:ln/>
        </p:spPr>
        <p:txBody>
          <a:bodyPr wrap="square" rtlCol="0" anchor="t"/>
          <a:lstStyle/>
          <a:p>
            <a:pPr indent="0" marL="0">
              <a:buNone/>
            </a:pPr>
            <a:r>
              <a:rPr lang="en-US" sz="1050" dirty="0">
                <a:solidFill>
                  <a:srgbClr val="F59E0B"/>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Dekker's Algorithm</a:t>
            </a:r>
            <a:endParaRPr lang="en-US" sz="1050" dirty="0"/>
          </a:p>
        </p:txBody>
      </p:sp>
      <p:sp>
        <p:nvSpPr>
          <p:cNvPr id="22" name="Text 20"/>
          <p:cNvSpPr/>
          <p:nvPr/>
        </p:nvSpPr>
        <p:spPr>
          <a:xfrm>
            <a:off x="6190488" y="2386584"/>
            <a:ext cx="2423160" cy="347472"/>
          </a:xfrm>
          <a:prstGeom prst="rect">
            <a:avLst/>
          </a:prstGeom>
          <a:noFill/>
          <a:ln/>
        </p:spPr>
        <p:txBody>
          <a:bodyPr wrap="square" rtlCol="0" anchor="t"/>
          <a:lstStyle/>
          <a:p>
            <a:pPr indent="0" marL="0">
              <a:buNone/>
            </a:pPr>
            <a:r>
              <a:rPr lang="en-US" sz="1050" dirty="0">
                <a:solidFill>
                  <a:srgbClr val="F59E0B"/>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Flag + Turn variables</a:t>
            </a:r>
            <a:endParaRPr lang="en-US" sz="1050" dirty="0"/>
          </a:p>
        </p:txBody>
      </p:sp>
      <p:sp>
        <p:nvSpPr>
          <p:cNvPr id="23" name="Shape 21"/>
          <p:cNvSpPr/>
          <p:nvPr/>
        </p:nvSpPr>
        <p:spPr>
          <a:xfrm>
            <a:off x="347472" y="2971800"/>
            <a:ext cx="2706624" cy="1874520"/>
          </a:xfrm>
          <a:prstGeom prst="rect">
            <a:avLst/>
          </a:prstGeom>
          <a:solidFill>
            <a:srgbClr val="1E293B"/>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24" name="Shape 22"/>
          <p:cNvSpPr/>
          <p:nvPr/>
        </p:nvSpPr>
        <p:spPr>
          <a:xfrm>
            <a:off x="347472" y="2971800"/>
            <a:ext cx="2706624" cy="73152"/>
          </a:xfrm>
          <a:prstGeom prst="rect">
            <a:avLst/>
          </a:prstGeom>
          <a:solidFill>
            <a:srgbClr val="10B981"/>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25" name="Text 23"/>
          <p:cNvSpPr/>
          <p:nvPr/>
        </p:nvSpPr>
        <p:spPr>
          <a:xfrm>
            <a:off x="484632" y="3108960"/>
            <a:ext cx="2423160" cy="438912"/>
          </a:xfrm>
          <a:prstGeom prst="rect">
            <a:avLst/>
          </a:prstGeom>
          <a:noFill/>
          <a:ln/>
        </p:spPr>
        <p:txBody>
          <a:bodyPr wrap="square" rtlCol="0" anchor="ctr"/>
          <a:lstStyle/>
          <a:p>
            <a:pPr indent="0" marL="0">
              <a:buNone/>
            </a:pPr>
            <a:r>
              <a:rPr lang="en-US" sz="1250" b="1" dirty="0">
                <a:solidFill>
                  <a:srgbClr val="10B981"/>
                </a:solidFill>
                <a:latin typeface="Calibri" pitchFamily="34" charset="0"/>
                <a:ea typeface="Calibri" pitchFamily="34" charset="-122"/>
                <a:cs typeface="Calibri" pitchFamily="34" charset="-120"/>
              </a:rPr>
              <a:t>Semaphores</a:t>
            </a:r>
            <a:endParaRPr lang="en-US" sz="1250" dirty="0"/>
          </a:p>
        </p:txBody>
      </p:sp>
      <p:sp>
        <p:nvSpPr>
          <p:cNvPr id="26" name="Text 24"/>
          <p:cNvSpPr/>
          <p:nvPr/>
        </p:nvSpPr>
        <p:spPr>
          <a:xfrm>
            <a:off x="484632" y="3611880"/>
            <a:ext cx="2423160" cy="347472"/>
          </a:xfrm>
          <a:prstGeom prst="rect">
            <a:avLst/>
          </a:prstGeom>
          <a:noFill/>
          <a:ln/>
        </p:spPr>
        <p:txBody>
          <a:bodyPr wrap="square" rtlCol="0" anchor="t"/>
          <a:lstStyle/>
          <a:p>
            <a:pPr indent="0" marL="0">
              <a:buNone/>
            </a:pPr>
            <a:r>
              <a:rPr lang="en-US" sz="1050" dirty="0">
                <a:solidFill>
                  <a:srgbClr val="10B981"/>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Binary Semaphore P()/V()</a:t>
            </a:r>
            <a:endParaRPr lang="en-US" sz="1050" dirty="0"/>
          </a:p>
        </p:txBody>
      </p:sp>
      <p:sp>
        <p:nvSpPr>
          <p:cNvPr id="27" name="Text 25"/>
          <p:cNvSpPr/>
          <p:nvPr/>
        </p:nvSpPr>
        <p:spPr>
          <a:xfrm>
            <a:off x="484632" y="4005072"/>
            <a:ext cx="2423160" cy="347472"/>
          </a:xfrm>
          <a:prstGeom prst="rect">
            <a:avLst/>
          </a:prstGeom>
          <a:noFill/>
          <a:ln/>
        </p:spPr>
        <p:txBody>
          <a:bodyPr wrap="square" rtlCol="0" anchor="t"/>
          <a:lstStyle/>
          <a:p>
            <a:pPr indent="0" marL="0">
              <a:buNone/>
            </a:pPr>
            <a:r>
              <a:rPr lang="en-US" sz="1050" dirty="0">
                <a:solidFill>
                  <a:srgbClr val="10B981"/>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Counting Semaphore (N slots)</a:t>
            </a:r>
            <a:endParaRPr lang="en-US" sz="1050" dirty="0"/>
          </a:p>
        </p:txBody>
      </p:sp>
      <p:sp>
        <p:nvSpPr>
          <p:cNvPr id="28" name="Text 26"/>
          <p:cNvSpPr/>
          <p:nvPr/>
        </p:nvSpPr>
        <p:spPr>
          <a:xfrm>
            <a:off x="484632" y="4398264"/>
            <a:ext cx="2423160" cy="347472"/>
          </a:xfrm>
          <a:prstGeom prst="rect">
            <a:avLst/>
          </a:prstGeom>
          <a:noFill/>
          <a:ln/>
        </p:spPr>
        <p:txBody>
          <a:bodyPr wrap="square" rtlCol="0" anchor="t"/>
          <a:lstStyle/>
          <a:p>
            <a:pPr indent="0" marL="0">
              <a:buNone/>
            </a:pPr>
            <a:r>
              <a:rPr lang="en-US" sz="1050" dirty="0">
                <a:solidFill>
                  <a:srgbClr val="10B981"/>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No ownership requirement</a:t>
            </a:r>
            <a:endParaRPr lang="en-US" sz="1050" dirty="0"/>
          </a:p>
        </p:txBody>
      </p:sp>
      <p:sp>
        <p:nvSpPr>
          <p:cNvPr id="29" name="Shape 27"/>
          <p:cNvSpPr/>
          <p:nvPr/>
        </p:nvSpPr>
        <p:spPr>
          <a:xfrm>
            <a:off x="3200400" y="2971800"/>
            <a:ext cx="2706624" cy="1874520"/>
          </a:xfrm>
          <a:prstGeom prst="rect">
            <a:avLst/>
          </a:prstGeom>
          <a:solidFill>
            <a:srgbClr val="1E293B"/>
          </a:solidFill>
          <a:ln w="19050">
            <a:solidFill>
              <a:srgbClr val="38BDF8"/>
            </a:solidFill>
            <a:prstDash val="solid"/>
          </a:ln>
          <a:effectLst>
            <a:outerShdw sx="100000" sy="100000" kx="0" ky="0" algn="bl" rotWithShape="0" blurRad="101600" dist="25400" dir="8100000">
              <a:srgbClr val="000000">
                <a:alpha val="28000"/>
              </a:srgbClr>
            </a:outerShdw>
          </a:effectLst>
        </p:spPr>
      </p:sp>
      <p:sp>
        <p:nvSpPr>
          <p:cNvPr id="30" name="Shape 28"/>
          <p:cNvSpPr/>
          <p:nvPr/>
        </p:nvSpPr>
        <p:spPr>
          <a:xfrm>
            <a:off x="3200400" y="2971800"/>
            <a:ext cx="2706624" cy="73152"/>
          </a:xfrm>
          <a:prstGeom prst="rect">
            <a:avLst/>
          </a:prstGeom>
          <a:solidFill>
            <a:srgbClr val="38BDF8"/>
          </a:solidFill>
          <a:ln w="19050">
            <a:solidFill>
              <a:srgbClr val="38BDF8"/>
            </a:solidFill>
            <a:prstDash val="solid"/>
          </a:ln>
          <a:effectLst>
            <a:outerShdw sx="100000" sy="100000" kx="0" ky="0" algn="bl" rotWithShape="0" blurRad="101600" dist="25400" dir="8100000">
              <a:srgbClr val="000000">
                <a:alpha val="28000"/>
              </a:srgbClr>
            </a:outerShdw>
          </a:effectLst>
        </p:spPr>
      </p:sp>
      <p:sp>
        <p:nvSpPr>
          <p:cNvPr id="31" name="Text 29"/>
          <p:cNvSpPr/>
          <p:nvPr/>
        </p:nvSpPr>
        <p:spPr>
          <a:xfrm>
            <a:off x="3337560" y="3108960"/>
            <a:ext cx="2423160" cy="438912"/>
          </a:xfrm>
          <a:prstGeom prst="rect">
            <a:avLst/>
          </a:prstGeom>
          <a:noFill/>
          <a:ln/>
        </p:spPr>
        <p:txBody>
          <a:bodyPr wrap="square" rtlCol="0" anchor="ctr"/>
          <a:lstStyle/>
          <a:p>
            <a:pPr indent="0" marL="0">
              <a:buNone/>
            </a:pPr>
            <a:r>
              <a:rPr lang="en-US" sz="1250" b="1" dirty="0">
                <a:solidFill>
                  <a:srgbClr val="38BDF8"/>
                </a:solidFill>
                <a:latin typeface="Calibri" pitchFamily="34" charset="0"/>
                <a:ea typeface="Calibri" pitchFamily="34" charset="-122"/>
                <a:cs typeface="Calibri" pitchFamily="34" charset="-120"/>
              </a:rPr>
              <a:t>Mutex Locks</a:t>
            </a:r>
            <a:endParaRPr lang="en-US" sz="1250" dirty="0"/>
          </a:p>
        </p:txBody>
      </p:sp>
      <p:sp>
        <p:nvSpPr>
          <p:cNvPr id="32" name="Text 30"/>
          <p:cNvSpPr/>
          <p:nvPr/>
        </p:nvSpPr>
        <p:spPr>
          <a:xfrm>
            <a:off x="3337560" y="3611880"/>
            <a:ext cx="2423160" cy="347472"/>
          </a:xfrm>
          <a:prstGeom prst="rect">
            <a:avLst/>
          </a:prstGeom>
          <a:noFill/>
          <a:ln/>
        </p:spPr>
        <p:txBody>
          <a:bodyPr wrap="square" rtlCol="0" anchor="t"/>
          <a:lstStyle/>
          <a:p>
            <a:pPr indent="0" marL="0">
              <a:buNone/>
            </a:pPr>
            <a:r>
              <a:rPr lang="en-US" sz="1050" dirty="0">
                <a:solidFill>
                  <a:srgbClr val="38BDF8"/>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acquire() / release()</a:t>
            </a:r>
            <a:endParaRPr lang="en-US" sz="1050" dirty="0"/>
          </a:p>
        </p:txBody>
      </p:sp>
      <p:sp>
        <p:nvSpPr>
          <p:cNvPr id="33" name="Text 31"/>
          <p:cNvSpPr/>
          <p:nvPr/>
        </p:nvSpPr>
        <p:spPr>
          <a:xfrm>
            <a:off x="3337560" y="4005072"/>
            <a:ext cx="2423160" cy="347472"/>
          </a:xfrm>
          <a:prstGeom prst="rect">
            <a:avLst/>
          </a:prstGeom>
          <a:noFill/>
          <a:ln/>
        </p:spPr>
        <p:txBody>
          <a:bodyPr wrap="square" rtlCol="0" anchor="t"/>
          <a:lstStyle/>
          <a:p>
            <a:pPr indent="0" marL="0">
              <a:buNone/>
            </a:pPr>
            <a:r>
              <a:rPr lang="en-US" sz="1050" dirty="0">
                <a:solidFill>
                  <a:srgbClr val="38BDF8"/>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Blocking (no busy-wait)</a:t>
            </a:r>
            <a:endParaRPr lang="en-US" sz="1050" dirty="0"/>
          </a:p>
        </p:txBody>
      </p:sp>
      <p:sp>
        <p:nvSpPr>
          <p:cNvPr id="34" name="Text 32"/>
          <p:cNvSpPr/>
          <p:nvPr/>
        </p:nvSpPr>
        <p:spPr>
          <a:xfrm>
            <a:off x="3337560" y="4398264"/>
            <a:ext cx="2423160" cy="347472"/>
          </a:xfrm>
          <a:prstGeom prst="rect">
            <a:avLst/>
          </a:prstGeom>
          <a:noFill/>
          <a:ln/>
        </p:spPr>
        <p:txBody>
          <a:bodyPr wrap="square" rtlCol="0" anchor="t"/>
          <a:lstStyle/>
          <a:p>
            <a:pPr indent="0" marL="0">
              <a:buNone/>
            </a:pPr>
            <a:r>
              <a:rPr lang="en-US" sz="1050" dirty="0">
                <a:solidFill>
                  <a:srgbClr val="38BDF8"/>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Ownership enforced</a:t>
            </a:r>
            <a:endParaRPr lang="en-US" sz="1050" dirty="0"/>
          </a:p>
        </p:txBody>
      </p:sp>
      <p:sp>
        <p:nvSpPr>
          <p:cNvPr id="35" name="Shape 33"/>
          <p:cNvSpPr/>
          <p:nvPr/>
        </p:nvSpPr>
        <p:spPr>
          <a:xfrm>
            <a:off x="6053328" y="2971800"/>
            <a:ext cx="2706624" cy="1874520"/>
          </a:xfrm>
          <a:prstGeom prst="rect">
            <a:avLst/>
          </a:prstGeom>
          <a:solidFill>
            <a:srgbClr val="1E293B"/>
          </a:solidFill>
          <a:ln w="19050">
            <a:solidFill>
              <a:srgbClr val="E879F9"/>
            </a:solidFill>
            <a:prstDash val="solid"/>
          </a:ln>
          <a:effectLst>
            <a:outerShdw sx="100000" sy="100000" kx="0" ky="0" algn="bl" rotWithShape="0" blurRad="101600" dist="25400" dir="8100000">
              <a:srgbClr val="000000">
                <a:alpha val="28000"/>
              </a:srgbClr>
            </a:outerShdw>
          </a:effectLst>
        </p:spPr>
      </p:sp>
      <p:sp>
        <p:nvSpPr>
          <p:cNvPr id="36" name="Shape 34"/>
          <p:cNvSpPr/>
          <p:nvPr/>
        </p:nvSpPr>
        <p:spPr>
          <a:xfrm>
            <a:off x="6053328" y="2971800"/>
            <a:ext cx="2706624" cy="73152"/>
          </a:xfrm>
          <a:prstGeom prst="rect">
            <a:avLst/>
          </a:prstGeom>
          <a:solidFill>
            <a:srgbClr val="E879F9"/>
          </a:solidFill>
          <a:ln w="19050">
            <a:solidFill>
              <a:srgbClr val="E879F9"/>
            </a:solidFill>
            <a:prstDash val="solid"/>
          </a:ln>
          <a:effectLst>
            <a:outerShdw sx="100000" sy="100000" kx="0" ky="0" algn="bl" rotWithShape="0" blurRad="101600" dist="25400" dir="8100000">
              <a:srgbClr val="000000">
                <a:alpha val="28000"/>
              </a:srgbClr>
            </a:outerShdw>
          </a:effectLst>
        </p:spPr>
      </p:sp>
      <p:sp>
        <p:nvSpPr>
          <p:cNvPr id="37" name="Text 35"/>
          <p:cNvSpPr/>
          <p:nvPr/>
        </p:nvSpPr>
        <p:spPr>
          <a:xfrm>
            <a:off x="6190488" y="3108960"/>
            <a:ext cx="2423160" cy="438912"/>
          </a:xfrm>
          <a:prstGeom prst="rect">
            <a:avLst/>
          </a:prstGeom>
          <a:noFill/>
          <a:ln/>
        </p:spPr>
        <p:txBody>
          <a:bodyPr wrap="square" rtlCol="0" anchor="ctr"/>
          <a:lstStyle/>
          <a:p>
            <a:pPr indent="0" marL="0">
              <a:buNone/>
            </a:pPr>
            <a:r>
              <a:rPr lang="en-US" sz="1250" b="1" dirty="0">
                <a:solidFill>
                  <a:srgbClr val="E879F9"/>
                </a:solidFill>
                <a:latin typeface="Calibri" pitchFamily="34" charset="0"/>
                <a:ea typeface="Calibri" pitchFamily="34" charset="-122"/>
                <a:cs typeface="Calibri" pitchFamily="34" charset="-120"/>
              </a:rPr>
              <a:t>Classic Problems</a:t>
            </a:r>
            <a:endParaRPr lang="en-US" sz="1250" dirty="0"/>
          </a:p>
        </p:txBody>
      </p:sp>
      <p:sp>
        <p:nvSpPr>
          <p:cNvPr id="38" name="Text 36"/>
          <p:cNvSpPr/>
          <p:nvPr/>
        </p:nvSpPr>
        <p:spPr>
          <a:xfrm>
            <a:off x="6190488" y="3611880"/>
            <a:ext cx="2423160" cy="347472"/>
          </a:xfrm>
          <a:prstGeom prst="rect">
            <a:avLst/>
          </a:prstGeom>
          <a:noFill/>
          <a:ln/>
        </p:spPr>
        <p:txBody>
          <a:bodyPr wrap="square" rtlCol="0" anchor="t"/>
          <a:lstStyle/>
          <a:p>
            <a:pPr indent="0" marL="0">
              <a:buNone/>
            </a:pPr>
            <a:r>
              <a:rPr lang="en-US" sz="1050" dirty="0">
                <a:solidFill>
                  <a:srgbClr val="E879F9"/>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Producer–Consumer</a:t>
            </a:r>
            <a:endParaRPr lang="en-US" sz="1050" dirty="0"/>
          </a:p>
        </p:txBody>
      </p:sp>
      <p:sp>
        <p:nvSpPr>
          <p:cNvPr id="39" name="Text 37"/>
          <p:cNvSpPr/>
          <p:nvPr/>
        </p:nvSpPr>
        <p:spPr>
          <a:xfrm>
            <a:off x="6190488" y="4005072"/>
            <a:ext cx="2423160" cy="347472"/>
          </a:xfrm>
          <a:prstGeom prst="rect">
            <a:avLst/>
          </a:prstGeom>
          <a:noFill/>
          <a:ln/>
        </p:spPr>
        <p:txBody>
          <a:bodyPr wrap="square" rtlCol="0" anchor="t"/>
          <a:lstStyle/>
          <a:p>
            <a:pPr indent="0" marL="0">
              <a:buNone/>
            </a:pPr>
            <a:r>
              <a:rPr lang="en-US" sz="1050" dirty="0">
                <a:solidFill>
                  <a:srgbClr val="E879F9"/>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Readers–Writers</a:t>
            </a:r>
            <a:endParaRPr lang="en-US" sz="1050" dirty="0"/>
          </a:p>
        </p:txBody>
      </p:sp>
      <p:sp>
        <p:nvSpPr>
          <p:cNvPr id="40" name="Text 38"/>
          <p:cNvSpPr/>
          <p:nvPr/>
        </p:nvSpPr>
        <p:spPr>
          <a:xfrm>
            <a:off x="6190488" y="4398264"/>
            <a:ext cx="2423160" cy="347472"/>
          </a:xfrm>
          <a:prstGeom prst="rect">
            <a:avLst/>
          </a:prstGeom>
          <a:noFill/>
          <a:ln/>
        </p:spPr>
        <p:txBody>
          <a:bodyPr wrap="square" rtlCol="0" anchor="t"/>
          <a:lstStyle/>
          <a:p>
            <a:pPr indent="0" marL="0">
              <a:buNone/>
            </a:pPr>
            <a:r>
              <a:rPr lang="en-US" sz="1050" dirty="0">
                <a:solidFill>
                  <a:srgbClr val="E879F9"/>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Monitor + Condition Vars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Development Methodology</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Development Methodology</a:t>
            </a:r>
            <a:endParaRPr lang="en-US" sz="2800" dirty="0"/>
          </a:p>
        </p:txBody>
      </p:sp>
      <p:sp>
        <p:nvSpPr>
          <p:cNvPr id="5" name="Shape 3"/>
          <p:cNvSpPr/>
          <p:nvPr/>
        </p:nvSpPr>
        <p:spPr>
          <a:xfrm>
            <a:off x="347472" y="987552"/>
            <a:ext cx="1920240" cy="1353312"/>
          </a:xfrm>
          <a:prstGeom prst="roundRect">
            <a:avLst>
              <a:gd name="adj" fmla="val 5405"/>
            </a:avLst>
          </a:prstGeom>
          <a:solidFill>
            <a:srgbClr val="0D1526"/>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6" name="Text 4"/>
          <p:cNvSpPr/>
          <p:nvPr/>
        </p:nvSpPr>
        <p:spPr>
          <a:xfrm>
            <a:off x="347472" y="1024128"/>
            <a:ext cx="1920240" cy="384048"/>
          </a:xfrm>
          <a:prstGeom prst="rect">
            <a:avLst/>
          </a:prstGeom>
          <a:noFill/>
          <a:ln/>
        </p:spPr>
        <p:txBody>
          <a:bodyPr wrap="square" rtlCol="0" anchor="ctr"/>
          <a:lstStyle/>
          <a:p>
            <a:pPr algn="ctr" indent="0" marL="0">
              <a:buNone/>
            </a:pPr>
            <a:r>
              <a:rPr lang="en-US" sz="1400" b="1" dirty="0">
                <a:solidFill>
                  <a:srgbClr val="2563EB"/>
                </a:solidFill>
                <a:latin typeface="Calibri" pitchFamily="34" charset="0"/>
                <a:ea typeface="Calibri" pitchFamily="34" charset="-122"/>
                <a:cs typeface="Calibri" pitchFamily="34" charset="-120"/>
              </a:rPr>
              <a:t>Phase 1</a:t>
            </a:r>
            <a:endParaRPr lang="en-US" sz="1400" dirty="0"/>
          </a:p>
        </p:txBody>
      </p:sp>
      <p:sp>
        <p:nvSpPr>
          <p:cNvPr id="7" name="Text 5"/>
          <p:cNvSpPr/>
          <p:nvPr/>
        </p:nvSpPr>
        <p:spPr>
          <a:xfrm>
            <a:off x="347472" y="1408176"/>
            <a:ext cx="1920240" cy="438912"/>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CPU Scheduling</a:t>
            </a:r>
            <a:endParaRPr lang="en-US" sz="1100" dirty="0"/>
          </a:p>
        </p:txBody>
      </p:sp>
      <p:sp>
        <p:nvSpPr>
          <p:cNvPr id="8" name="Text 6"/>
          <p:cNvSpPr/>
          <p:nvPr/>
        </p:nvSpPr>
        <p:spPr>
          <a:xfrm>
            <a:off x="347472" y="1828800"/>
            <a:ext cx="1920240" cy="384048"/>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scheduler.py</a:t>
            </a:r>
            <a:endParaRPr lang="en-US" sz="1000" dirty="0"/>
          </a:p>
        </p:txBody>
      </p:sp>
      <p:sp>
        <p:nvSpPr>
          <p:cNvPr id="9" name="Text 7"/>
          <p:cNvSpPr/>
          <p:nvPr/>
        </p:nvSpPr>
        <p:spPr>
          <a:xfrm>
            <a:off x="2286000" y="1298448"/>
            <a:ext cx="164592" cy="384048"/>
          </a:xfrm>
          <a:prstGeom prst="rect">
            <a:avLst/>
          </a:prstGeom>
          <a:noFill/>
          <a:ln/>
        </p:spPr>
        <p:txBody>
          <a:bodyPr wrap="square"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468880" y="987552"/>
            <a:ext cx="1920240" cy="1353312"/>
          </a:xfrm>
          <a:prstGeom prst="roundRect">
            <a:avLst>
              <a:gd name="adj" fmla="val 5405"/>
            </a:avLst>
          </a:prstGeom>
          <a:solidFill>
            <a:srgbClr val="0D1526"/>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1" name="Text 9"/>
          <p:cNvSpPr/>
          <p:nvPr/>
        </p:nvSpPr>
        <p:spPr>
          <a:xfrm>
            <a:off x="2468880" y="1024128"/>
            <a:ext cx="1920240" cy="384048"/>
          </a:xfrm>
          <a:prstGeom prst="rect">
            <a:avLst/>
          </a:prstGeom>
          <a:noFill/>
          <a:ln/>
        </p:spPr>
        <p:txBody>
          <a:bodyPr wrap="square" rtlCol="0" anchor="ctr"/>
          <a:lstStyle/>
          <a:p>
            <a:pPr algn="ctr" indent="0" marL="0">
              <a:buNone/>
            </a:pPr>
            <a:r>
              <a:rPr lang="en-US" sz="1400" b="1" dirty="0">
                <a:solidFill>
                  <a:srgbClr val="F59E0B"/>
                </a:solidFill>
                <a:latin typeface="Calibri" pitchFamily="34" charset="0"/>
                <a:ea typeface="Calibri" pitchFamily="34" charset="-122"/>
                <a:cs typeface="Calibri" pitchFamily="34" charset="-120"/>
              </a:rPr>
              <a:t>Phase 2</a:t>
            </a:r>
            <a:endParaRPr lang="en-US" sz="1400" dirty="0"/>
          </a:p>
        </p:txBody>
      </p:sp>
      <p:sp>
        <p:nvSpPr>
          <p:cNvPr id="12" name="Text 10"/>
          <p:cNvSpPr/>
          <p:nvPr/>
        </p:nvSpPr>
        <p:spPr>
          <a:xfrm>
            <a:off x="2468880" y="1408176"/>
            <a:ext cx="1920240" cy="438912"/>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Problem Detection</a:t>
            </a:r>
            <a:endParaRPr lang="en-US" sz="1100" dirty="0"/>
          </a:p>
        </p:txBody>
      </p:sp>
      <p:sp>
        <p:nvSpPr>
          <p:cNvPr id="13" name="Text 11"/>
          <p:cNvSpPr/>
          <p:nvPr/>
        </p:nvSpPr>
        <p:spPr>
          <a:xfrm>
            <a:off x="2468880" y="1828800"/>
            <a:ext cx="1920240" cy="384048"/>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diagnostics.py</a:t>
            </a:r>
            <a:endParaRPr lang="en-US" sz="1000" dirty="0"/>
          </a:p>
        </p:txBody>
      </p:sp>
      <p:sp>
        <p:nvSpPr>
          <p:cNvPr id="14" name="Text 12"/>
          <p:cNvSpPr/>
          <p:nvPr/>
        </p:nvSpPr>
        <p:spPr>
          <a:xfrm>
            <a:off x="4407408" y="1298448"/>
            <a:ext cx="164592" cy="384048"/>
          </a:xfrm>
          <a:prstGeom prst="rect">
            <a:avLst/>
          </a:prstGeom>
          <a:noFill/>
          <a:ln/>
        </p:spPr>
        <p:txBody>
          <a:bodyPr wrap="square"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590288" y="987552"/>
            <a:ext cx="1920240" cy="1353312"/>
          </a:xfrm>
          <a:prstGeom prst="roundRect">
            <a:avLst>
              <a:gd name="adj" fmla="val 5405"/>
            </a:avLst>
          </a:prstGeom>
          <a:solidFill>
            <a:srgbClr val="0D1526"/>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6" name="Text 14"/>
          <p:cNvSpPr/>
          <p:nvPr/>
        </p:nvSpPr>
        <p:spPr>
          <a:xfrm>
            <a:off x="4590288" y="1024128"/>
            <a:ext cx="1920240" cy="384048"/>
          </a:xfrm>
          <a:prstGeom prst="rect">
            <a:avLst/>
          </a:prstGeom>
          <a:noFill/>
          <a:ln/>
        </p:spPr>
        <p:txBody>
          <a:bodyPr wrap="square" rtlCol="0" anchor="ctr"/>
          <a:lstStyle/>
          <a:p>
            <a:pPr algn="ctr" indent="0" marL="0">
              <a:buNone/>
            </a:pPr>
            <a:r>
              <a:rPr lang="en-US" sz="1400" b="1" dirty="0">
                <a:solidFill>
                  <a:srgbClr val="06B6D4"/>
                </a:solidFill>
                <a:latin typeface="Calibri" pitchFamily="34" charset="0"/>
                <a:ea typeface="Calibri" pitchFamily="34" charset="-122"/>
                <a:cs typeface="Calibri" pitchFamily="34" charset="-120"/>
              </a:rPr>
              <a:t>Phase 3</a:t>
            </a:r>
            <a:endParaRPr lang="en-US" sz="1400" dirty="0"/>
          </a:p>
        </p:txBody>
      </p:sp>
      <p:sp>
        <p:nvSpPr>
          <p:cNvPr id="17" name="Text 15"/>
          <p:cNvSpPr/>
          <p:nvPr/>
        </p:nvSpPr>
        <p:spPr>
          <a:xfrm>
            <a:off x="4590288" y="1408176"/>
            <a:ext cx="1920240" cy="438912"/>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Synchronization</a:t>
            </a:r>
            <a:endParaRPr lang="en-US" sz="1100" dirty="0"/>
          </a:p>
        </p:txBody>
      </p:sp>
      <p:sp>
        <p:nvSpPr>
          <p:cNvPr id="18" name="Text 16"/>
          <p:cNvSpPr/>
          <p:nvPr/>
        </p:nvSpPr>
        <p:spPr>
          <a:xfrm>
            <a:off x="4590288" y="1828800"/>
            <a:ext cx="1920240" cy="384048"/>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sync_engine.py</a:t>
            </a:r>
            <a:endParaRPr lang="en-US" sz="1000" dirty="0"/>
          </a:p>
        </p:txBody>
      </p:sp>
      <p:sp>
        <p:nvSpPr>
          <p:cNvPr id="19" name="Text 17"/>
          <p:cNvSpPr/>
          <p:nvPr/>
        </p:nvSpPr>
        <p:spPr>
          <a:xfrm>
            <a:off x="6528816" y="1298448"/>
            <a:ext cx="164592" cy="384048"/>
          </a:xfrm>
          <a:prstGeom prst="rect">
            <a:avLst/>
          </a:prstGeom>
          <a:noFill/>
          <a:ln/>
        </p:spPr>
        <p:txBody>
          <a:bodyPr wrap="square" rtlCol="0" anchor="ctr"/>
          <a:lstStyle/>
          <a:p>
            <a:pPr algn="ctr" indent="0" marL="0">
              <a:buNone/>
            </a:pPr>
            <a:r>
              <a:rPr lang="en-US" sz="2000" b="1" dirty="0">
                <a:solidFill>
                  <a:srgbClr val="06B6D4"/>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711696" y="987552"/>
            <a:ext cx="1920240" cy="1353312"/>
          </a:xfrm>
          <a:prstGeom prst="roundRect">
            <a:avLst>
              <a:gd name="adj" fmla="val 5405"/>
            </a:avLst>
          </a:prstGeom>
          <a:solidFill>
            <a:srgbClr val="0D1526"/>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21" name="Text 19"/>
          <p:cNvSpPr/>
          <p:nvPr/>
        </p:nvSpPr>
        <p:spPr>
          <a:xfrm>
            <a:off x="6711696" y="1024128"/>
            <a:ext cx="1920240" cy="384048"/>
          </a:xfrm>
          <a:prstGeom prst="rect">
            <a:avLst/>
          </a:prstGeom>
          <a:noFill/>
          <a:ln/>
        </p:spPr>
        <p:txBody>
          <a:bodyPr wrap="square"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Phase 4</a:t>
            </a:r>
            <a:endParaRPr lang="en-US" sz="1400" dirty="0"/>
          </a:p>
        </p:txBody>
      </p:sp>
      <p:sp>
        <p:nvSpPr>
          <p:cNvPr id="22" name="Text 20"/>
          <p:cNvSpPr/>
          <p:nvPr/>
        </p:nvSpPr>
        <p:spPr>
          <a:xfrm>
            <a:off x="6711696" y="1408176"/>
            <a:ext cx="1920240" cy="438912"/>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Analysis &amp; Report</a:t>
            </a:r>
            <a:endParaRPr lang="en-US" sz="1100" dirty="0"/>
          </a:p>
        </p:txBody>
      </p:sp>
      <p:sp>
        <p:nvSpPr>
          <p:cNvPr id="23" name="Text 21"/>
          <p:cNvSpPr/>
          <p:nvPr/>
        </p:nvSpPr>
        <p:spPr>
          <a:xfrm>
            <a:off x="6711696" y="1828800"/>
            <a:ext cx="1920240" cy="384048"/>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analyzer.py</a:t>
            </a:r>
            <a:endParaRPr lang="en-US" sz="1000" dirty="0"/>
          </a:p>
        </p:txBody>
      </p:sp>
      <p:sp>
        <p:nvSpPr>
          <p:cNvPr id="24" name="Text 22"/>
          <p:cNvSpPr/>
          <p:nvPr/>
        </p:nvSpPr>
        <p:spPr>
          <a:xfrm>
            <a:off x="411480" y="2542032"/>
            <a:ext cx="4114800" cy="365760"/>
          </a:xfrm>
          <a:prstGeom prst="rect">
            <a:avLst/>
          </a:prstGeom>
          <a:noFill/>
          <a:ln/>
        </p:spPr>
        <p:txBody>
          <a:bodyPr wrap="square" rtlCol="0" anchor="ctr"/>
          <a:lstStyle/>
          <a:p>
            <a:pPr indent="0" marL="0">
              <a:buNone/>
            </a:pPr>
            <a:r>
              <a:rPr lang="en-US" sz="1400" b="1" dirty="0">
                <a:solidFill>
                  <a:srgbClr val="38BDF8"/>
                </a:solidFill>
                <a:latin typeface="Calibri" pitchFamily="34" charset="0"/>
                <a:ea typeface="Calibri" pitchFamily="34" charset="-122"/>
                <a:cs typeface="Calibri" pitchFamily="34" charset="-120"/>
              </a:rPr>
              <a:t>Tools &amp; Technologies</a:t>
            </a:r>
            <a:endParaRPr lang="en-US" sz="1400" dirty="0"/>
          </a:p>
        </p:txBody>
      </p:sp>
      <p:sp>
        <p:nvSpPr>
          <p:cNvPr id="25" name="Shape 23"/>
          <p:cNvSpPr/>
          <p:nvPr/>
        </p:nvSpPr>
        <p:spPr>
          <a:xfrm>
            <a:off x="347472" y="2944368"/>
            <a:ext cx="4114800" cy="457200"/>
          </a:xfrm>
          <a:prstGeom prst="roundRect">
            <a:avLst>
              <a:gd name="adj" fmla="val 8000"/>
            </a:avLst>
          </a:prstGeom>
          <a:solidFill>
            <a:srgbClr val="1E293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26" name="Text 24"/>
          <p:cNvSpPr/>
          <p:nvPr/>
        </p:nvSpPr>
        <p:spPr>
          <a:xfrm>
            <a:off x="512064" y="2944368"/>
            <a:ext cx="3794760" cy="457200"/>
          </a:xfrm>
          <a:prstGeom prst="rect">
            <a:avLst/>
          </a:prstGeom>
          <a:noFill/>
          <a:ln/>
        </p:spPr>
        <p:txBody>
          <a:bodyPr wrap="square"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Backend:  </a:t>
            </a:r>
            <a:pPr indent="0" marL="0">
              <a:buNone/>
            </a:pPr>
            <a:r>
              <a:rPr lang="en-US" sz="1150" dirty="0">
                <a:solidFill>
                  <a:srgbClr val="CBD5E1"/>
                </a:solidFill>
                <a:latin typeface="Calibri" pitchFamily="34" charset="0"/>
                <a:ea typeface="Calibri" pitchFamily="34" charset="-122"/>
                <a:cs typeface="Calibri" pitchFamily="34" charset="-120"/>
              </a:rPr>
              <a:t>Python 3 · Flask REST API</a:t>
            </a:r>
            <a:endParaRPr lang="en-US" sz="1150" dirty="0"/>
          </a:p>
        </p:txBody>
      </p:sp>
      <p:sp>
        <p:nvSpPr>
          <p:cNvPr id="27" name="Shape 25"/>
          <p:cNvSpPr/>
          <p:nvPr/>
        </p:nvSpPr>
        <p:spPr>
          <a:xfrm>
            <a:off x="4690872" y="2944368"/>
            <a:ext cx="4114800" cy="457200"/>
          </a:xfrm>
          <a:prstGeom prst="roundRect">
            <a:avLst>
              <a:gd name="adj" fmla="val 8000"/>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28" name="Text 26"/>
          <p:cNvSpPr/>
          <p:nvPr/>
        </p:nvSpPr>
        <p:spPr>
          <a:xfrm>
            <a:off x="4855464" y="2944368"/>
            <a:ext cx="3794760" cy="457200"/>
          </a:xfrm>
          <a:prstGeom prst="rect">
            <a:avLst/>
          </a:prstGeom>
          <a:noFill/>
          <a:ln/>
        </p:spPr>
        <p:txBody>
          <a:bodyPr wrap="square" rtlCol="0" anchor="ctr"/>
          <a:lstStyle/>
          <a:p>
            <a:pPr indent="0" marL="0">
              <a:buNone/>
            </a:pPr>
            <a:r>
              <a:rPr lang="en-US" sz="1150" b="1" dirty="0">
                <a:solidFill>
                  <a:srgbClr val="06B6D4"/>
                </a:solidFill>
                <a:latin typeface="Calibri" pitchFamily="34" charset="0"/>
                <a:ea typeface="Calibri" pitchFamily="34" charset="-122"/>
                <a:cs typeface="Calibri" pitchFamily="34" charset="-120"/>
              </a:rPr>
              <a:t>Frontend:  </a:t>
            </a:r>
            <a:pPr indent="0" marL="0">
              <a:buNone/>
            </a:pPr>
            <a:r>
              <a:rPr lang="en-US" sz="1150" dirty="0">
                <a:solidFill>
                  <a:srgbClr val="CBD5E1"/>
                </a:solidFill>
                <a:latin typeface="Calibri" pitchFamily="34" charset="0"/>
                <a:ea typeface="Calibri" pitchFamily="34" charset="-122"/>
                <a:cs typeface="Calibri" pitchFamily="34" charset="-120"/>
              </a:rPr>
              <a:t>HTML5 · CSS3 · Vanilla JavaScript</a:t>
            </a:r>
            <a:endParaRPr lang="en-US" sz="1150" dirty="0"/>
          </a:p>
        </p:txBody>
      </p:sp>
      <p:sp>
        <p:nvSpPr>
          <p:cNvPr id="29" name="Shape 27"/>
          <p:cNvSpPr/>
          <p:nvPr/>
        </p:nvSpPr>
        <p:spPr>
          <a:xfrm>
            <a:off x="347472" y="3493008"/>
            <a:ext cx="4114800" cy="457200"/>
          </a:xfrm>
          <a:prstGeom prst="roundRect">
            <a:avLst>
              <a:gd name="adj" fmla="val 8000"/>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30" name="Text 28"/>
          <p:cNvSpPr/>
          <p:nvPr/>
        </p:nvSpPr>
        <p:spPr>
          <a:xfrm>
            <a:off x="512064" y="3493008"/>
            <a:ext cx="3794760" cy="457200"/>
          </a:xfrm>
          <a:prstGeom prst="rect">
            <a:avLst/>
          </a:prstGeom>
          <a:noFill/>
          <a:ln/>
        </p:spPr>
        <p:txBody>
          <a:bodyPr wrap="square" rtlCol="0" anchor="ctr"/>
          <a:lstStyle/>
          <a:p>
            <a:pPr indent="0" marL="0">
              <a:buNone/>
            </a:pPr>
            <a:r>
              <a:rPr lang="en-US" sz="1150" b="1" dirty="0">
                <a:solidFill>
                  <a:srgbClr val="F59E0B"/>
                </a:solidFill>
                <a:latin typeface="Calibri" pitchFamily="34" charset="0"/>
                <a:ea typeface="Calibri" pitchFamily="34" charset="-122"/>
                <a:cs typeface="Calibri" pitchFamily="34" charset="-120"/>
              </a:rPr>
              <a:t>Visualization:  </a:t>
            </a:r>
            <a:pPr indent="0" marL="0">
              <a:buNone/>
            </a:pPr>
            <a:r>
              <a:rPr lang="en-US" sz="1150" dirty="0">
                <a:solidFill>
                  <a:srgbClr val="CBD5E1"/>
                </a:solidFill>
                <a:latin typeface="Calibri" pitchFamily="34" charset="0"/>
                <a:ea typeface="Calibri" pitchFamily="34" charset="-122"/>
                <a:cs typeface="Calibri" pitchFamily="34" charset="-120"/>
              </a:rPr>
              <a:t>HTML5 Canvas API · DOM rendering</a:t>
            </a:r>
            <a:endParaRPr lang="en-US" sz="1150" dirty="0"/>
          </a:p>
        </p:txBody>
      </p:sp>
      <p:sp>
        <p:nvSpPr>
          <p:cNvPr id="31" name="Shape 29"/>
          <p:cNvSpPr/>
          <p:nvPr/>
        </p:nvSpPr>
        <p:spPr>
          <a:xfrm>
            <a:off x="4690872" y="3493008"/>
            <a:ext cx="4114800" cy="457200"/>
          </a:xfrm>
          <a:prstGeom prst="roundRect">
            <a:avLst>
              <a:gd name="adj" fmla="val 8000"/>
            </a:avLst>
          </a:prstGeom>
          <a:solidFill>
            <a:srgbClr val="1E293B"/>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32" name="Text 30"/>
          <p:cNvSpPr/>
          <p:nvPr/>
        </p:nvSpPr>
        <p:spPr>
          <a:xfrm>
            <a:off x="4855464" y="3493008"/>
            <a:ext cx="3794760" cy="457200"/>
          </a:xfrm>
          <a:prstGeom prst="rect">
            <a:avLst/>
          </a:prstGeom>
          <a:noFill/>
          <a:ln/>
        </p:spPr>
        <p:txBody>
          <a:bodyPr wrap="square"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Data Format:  </a:t>
            </a:r>
            <a:pPr indent="0" marL="0">
              <a:buNone/>
            </a:pPr>
            <a:r>
              <a:rPr lang="en-US" sz="1150" dirty="0">
                <a:solidFill>
                  <a:srgbClr val="CBD5E1"/>
                </a:solidFill>
                <a:latin typeface="Calibri" pitchFamily="34" charset="0"/>
                <a:ea typeface="Calibri" pitchFamily="34" charset="-122"/>
                <a:cs typeface="Calibri" pitchFamily="34" charset="-120"/>
              </a:rPr>
              <a:t>JSON step snapshots (deep-copied)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5" name="Shape 3"/>
          <p:cNvSpPr/>
          <p:nvPr/>
        </p:nvSpPr>
        <p:spPr>
          <a:xfrm>
            <a:off x="320040" y="896112"/>
            <a:ext cx="8503920" cy="960120"/>
          </a:xfrm>
          <a:prstGeom prst="rect">
            <a:avLst/>
          </a:prstGeom>
          <a:solidFill>
            <a:srgbClr val="0D1526"/>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6" name="Text 4"/>
          <p:cNvSpPr/>
          <p:nvPr/>
        </p:nvSpPr>
        <p:spPr>
          <a:xfrm>
            <a:off x="347472" y="969264"/>
            <a:ext cx="1645920" cy="822960"/>
          </a:xfrm>
          <a:prstGeom prst="rect">
            <a:avLst/>
          </a:prstGeom>
          <a:noFill/>
          <a:ln/>
        </p:spPr>
        <p:txBody>
          <a:bodyPr wrap="square" rtlCol="0" anchor="ctr"/>
          <a:lstStyle/>
          <a:p>
            <a:pPr algn="ctr" indent="0" marL="0">
              <a:buNone/>
            </a:pPr>
            <a:r>
              <a:rPr lang="en-US" sz="1000" b="1" dirty="0">
                <a:solidFill>
                  <a:srgbClr val="06B6D4"/>
                </a:solidFill>
                <a:latin typeface="Calibri" pitchFamily="34" charset="0"/>
                <a:ea typeface="Calibri" pitchFamily="34" charset="-122"/>
                <a:cs typeface="Calibri" pitchFamily="34" charset="-120"/>
              </a:rPr>
              <a:t>FRONTEND LAYER</a:t>
            </a:r>
            <a:endParaRPr lang="en-US" sz="1000" dirty="0"/>
          </a:p>
        </p:txBody>
      </p:sp>
      <p:sp>
        <p:nvSpPr>
          <p:cNvPr id="7" name="Shape 5"/>
          <p:cNvSpPr/>
          <p:nvPr/>
        </p:nvSpPr>
        <p:spPr>
          <a:xfrm>
            <a:off x="2029968" y="896112"/>
            <a:ext cx="0" cy="960120"/>
          </a:xfrm>
          <a:prstGeom prst="line">
            <a:avLst/>
          </a:prstGeom>
          <a:noFill/>
          <a:ln w="12700">
            <a:solidFill>
              <a:srgbClr val="06B6D4"/>
            </a:solidFill>
            <a:prstDash val="solid"/>
          </a:ln>
        </p:spPr>
      </p:sp>
      <p:sp>
        <p:nvSpPr>
          <p:cNvPr id="8" name="Text 6"/>
          <p:cNvSpPr/>
          <p:nvPr/>
        </p:nvSpPr>
        <p:spPr>
          <a:xfrm>
            <a:off x="2103120" y="896112"/>
            <a:ext cx="6583680" cy="9601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index.html    ·    sync-viz.js    ·    main.js    ·    style.css</a:t>
            </a:r>
            <a:endParaRPr lang="en-US" sz="1100" dirty="0"/>
          </a:p>
        </p:txBody>
      </p:sp>
      <p:sp>
        <p:nvSpPr>
          <p:cNvPr id="9" name="Shape 7"/>
          <p:cNvSpPr/>
          <p:nvPr/>
        </p:nvSpPr>
        <p:spPr>
          <a:xfrm>
            <a:off x="320040" y="1993392"/>
            <a:ext cx="8503920" cy="960120"/>
          </a:xfrm>
          <a:prstGeom prst="rect">
            <a:avLst/>
          </a:prstGeom>
          <a:solidFill>
            <a:srgbClr val="0D1526"/>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10" name="Text 8"/>
          <p:cNvSpPr/>
          <p:nvPr/>
        </p:nvSpPr>
        <p:spPr>
          <a:xfrm>
            <a:off x="347472" y="2066544"/>
            <a:ext cx="1645920" cy="822960"/>
          </a:xfrm>
          <a:prstGeom prst="rect">
            <a:avLst/>
          </a:prstGeom>
          <a:noFill/>
          <a:ln/>
        </p:spPr>
        <p:txBody>
          <a:bodyPr wrap="square"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API LAYER</a:t>
            </a:r>
            <a:endParaRPr lang="en-US" sz="1000" dirty="0"/>
          </a:p>
        </p:txBody>
      </p:sp>
      <p:sp>
        <p:nvSpPr>
          <p:cNvPr id="11" name="Shape 9"/>
          <p:cNvSpPr/>
          <p:nvPr/>
        </p:nvSpPr>
        <p:spPr>
          <a:xfrm>
            <a:off x="2029968" y="1993392"/>
            <a:ext cx="0" cy="960120"/>
          </a:xfrm>
          <a:prstGeom prst="line">
            <a:avLst/>
          </a:prstGeom>
          <a:noFill/>
          <a:ln w="12700">
            <a:solidFill>
              <a:srgbClr val="2563EB"/>
            </a:solidFill>
            <a:prstDash val="solid"/>
          </a:ln>
        </p:spPr>
      </p:sp>
      <p:sp>
        <p:nvSpPr>
          <p:cNvPr id="12" name="Text 10"/>
          <p:cNvSpPr/>
          <p:nvPr/>
        </p:nvSpPr>
        <p:spPr>
          <a:xfrm>
            <a:off x="2103120" y="1993392"/>
            <a:ext cx="6583680" cy="9601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app.py  (Flask)    ·    /api/pipeline/phase1-4    ·    JSON Request/Response    ·    Validators</a:t>
            </a:r>
            <a:endParaRPr lang="en-US" sz="1100" dirty="0"/>
          </a:p>
        </p:txBody>
      </p:sp>
      <p:sp>
        <p:nvSpPr>
          <p:cNvPr id="13" name="Shape 11"/>
          <p:cNvSpPr/>
          <p:nvPr/>
        </p:nvSpPr>
        <p:spPr>
          <a:xfrm>
            <a:off x="320040" y="3090672"/>
            <a:ext cx="8503920" cy="960120"/>
          </a:xfrm>
          <a:prstGeom prst="rect">
            <a:avLst/>
          </a:prstGeom>
          <a:solidFill>
            <a:srgbClr val="0D1526"/>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4" name="Text 12"/>
          <p:cNvSpPr/>
          <p:nvPr/>
        </p:nvSpPr>
        <p:spPr>
          <a:xfrm>
            <a:off x="347472" y="3163824"/>
            <a:ext cx="1645920" cy="822960"/>
          </a:xfrm>
          <a:prstGeom prst="rect">
            <a:avLst/>
          </a:prstGeom>
          <a:noFill/>
          <a:ln/>
        </p:spPr>
        <p:txBody>
          <a:bodyPr wrap="square"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ENGINE LAYER</a:t>
            </a:r>
            <a:endParaRPr lang="en-US" sz="1000" dirty="0"/>
          </a:p>
        </p:txBody>
      </p:sp>
      <p:sp>
        <p:nvSpPr>
          <p:cNvPr id="15" name="Shape 13"/>
          <p:cNvSpPr/>
          <p:nvPr/>
        </p:nvSpPr>
        <p:spPr>
          <a:xfrm>
            <a:off x="2029968" y="3090672"/>
            <a:ext cx="0" cy="960120"/>
          </a:xfrm>
          <a:prstGeom prst="line">
            <a:avLst/>
          </a:prstGeom>
          <a:noFill/>
          <a:ln w="12700">
            <a:solidFill>
              <a:srgbClr val="F59E0B"/>
            </a:solidFill>
            <a:prstDash val="solid"/>
          </a:ln>
        </p:spPr>
      </p:sp>
      <p:sp>
        <p:nvSpPr>
          <p:cNvPr id="16" name="Text 14"/>
          <p:cNvSpPr/>
          <p:nvPr/>
        </p:nvSpPr>
        <p:spPr>
          <a:xfrm>
            <a:off x="2103120" y="3090672"/>
            <a:ext cx="6583680" cy="9601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scheduler.py    ·    sync_engine.py    ·    execution_engine.py    ·    diagnostics.py  |  analyzer.py</a:t>
            </a:r>
            <a:endParaRPr lang="en-US" sz="1100" dirty="0"/>
          </a:p>
        </p:txBody>
      </p:sp>
      <p:sp>
        <p:nvSpPr>
          <p:cNvPr id="17" name="Shape 15"/>
          <p:cNvSpPr/>
          <p:nvPr/>
        </p:nvSpPr>
        <p:spPr>
          <a:xfrm>
            <a:off x="1005840" y="1783080"/>
            <a:ext cx="0" cy="256032"/>
          </a:xfrm>
          <a:prstGeom prst="line">
            <a:avLst/>
          </a:prstGeom>
          <a:noFill/>
          <a:ln w="25400">
            <a:solidFill>
              <a:srgbClr val="2563EB"/>
            </a:solidFill>
            <a:prstDash val="solid"/>
          </a:ln>
        </p:spPr>
      </p:sp>
      <p:sp>
        <p:nvSpPr>
          <p:cNvPr id="18" name="Text 16"/>
          <p:cNvSpPr/>
          <p:nvPr/>
        </p:nvSpPr>
        <p:spPr>
          <a:xfrm>
            <a:off x="731520" y="1801368"/>
            <a:ext cx="548640" cy="201168"/>
          </a:xfrm>
          <a:prstGeom prst="rect">
            <a:avLst/>
          </a:prstGeom>
          <a:noFill/>
          <a:ln/>
        </p:spPr>
        <p:txBody>
          <a:bodyPr wrap="square" rtlCol="0" anchor="ctr"/>
          <a:lstStyle/>
          <a:p>
            <a:pPr algn="ctr" indent="0" marL="0">
              <a:buNone/>
            </a:pPr>
            <a:r>
              <a:rPr lang="en-US" sz="1200" dirty="0">
                <a:solidFill>
                  <a:srgbClr val="2563EB"/>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1188720" y="1810512"/>
            <a:ext cx="1463040" cy="182880"/>
          </a:xfrm>
          <a:prstGeom prst="rect">
            <a:avLst/>
          </a:prstGeom>
          <a:noFill/>
          <a:ln/>
        </p:spPr>
        <p:txBody>
          <a:bodyPr wrap="square"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HTTP / JSON</a:t>
            </a:r>
            <a:endParaRPr lang="en-US" sz="900" dirty="0"/>
          </a:p>
        </p:txBody>
      </p:sp>
      <p:sp>
        <p:nvSpPr>
          <p:cNvPr id="20" name="Shape 18"/>
          <p:cNvSpPr/>
          <p:nvPr/>
        </p:nvSpPr>
        <p:spPr>
          <a:xfrm>
            <a:off x="1005840" y="3017520"/>
            <a:ext cx="0" cy="256032"/>
          </a:xfrm>
          <a:prstGeom prst="line">
            <a:avLst/>
          </a:prstGeom>
          <a:noFill/>
          <a:ln w="25400">
            <a:solidFill>
              <a:srgbClr val="2563EB"/>
            </a:solidFill>
            <a:prstDash val="solid"/>
          </a:ln>
        </p:spPr>
      </p:sp>
      <p:sp>
        <p:nvSpPr>
          <p:cNvPr id="21" name="Text 19"/>
          <p:cNvSpPr/>
          <p:nvPr/>
        </p:nvSpPr>
        <p:spPr>
          <a:xfrm>
            <a:off x="731520" y="3035808"/>
            <a:ext cx="548640" cy="201168"/>
          </a:xfrm>
          <a:prstGeom prst="rect">
            <a:avLst/>
          </a:prstGeom>
          <a:noFill/>
          <a:ln/>
        </p:spPr>
        <p:txBody>
          <a:bodyPr wrap="square" rtlCol="0" anchor="ctr"/>
          <a:lstStyle/>
          <a:p>
            <a:pPr algn="ctr" indent="0" marL="0">
              <a:buNone/>
            </a:pPr>
            <a:r>
              <a:rPr lang="en-US" sz="1200" dirty="0">
                <a:solidFill>
                  <a:srgbClr val="2563EB"/>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1188720" y="3044952"/>
            <a:ext cx="1463040" cy="182880"/>
          </a:xfrm>
          <a:prstGeom prst="rect">
            <a:avLst/>
          </a:prstGeom>
          <a:noFill/>
          <a:ln/>
        </p:spPr>
        <p:txBody>
          <a:bodyPr wrap="square"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HTTP / JSON</a:t>
            </a:r>
            <a:endParaRPr lang="en-US" sz="900" dirty="0"/>
          </a:p>
        </p:txBody>
      </p:sp>
      <p:sp>
        <p:nvSpPr>
          <p:cNvPr id="23" name="Text 21"/>
          <p:cNvSpPr/>
          <p:nvPr/>
        </p:nvSpPr>
        <p:spPr>
          <a:xfrm>
            <a:off x="411480" y="4169664"/>
            <a:ext cx="4114800" cy="329184"/>
          </a:xfrm>
          <a:prstGeom prst="rect">
            <a:avLst/>
          </a:prstGeom>
          <a:noFill/>
          <a:ln/>
        </p:spPr>
        <p:txBody>
          <a:bodyPr wrap="square"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Key Design Decisions</a:t>
            </a:r>
            <a:endParaRPr lang="en-US" sz="1200" dirty="0"/>
          </a:p>
        </p:txBody>
      </p:sp>
      <p:sp>
        <p:nvSpPr>
          <p:cNvPr id="24" name="Text 22"/>
          <p:cNvSpPr/>
          <p:nvPr/>
        </p:nvSpPr>
        <p:spPr>
          <a:xfrm>
            <a:off x="411480" y="4507992"/>
            <a:ext cx="8229600" cy="201168"/>
          </a:xfrm>
          <a:prstGeom prst="rect">
            <a:avLst/>
          </a:prstGeom>
          <a:noFill/>
          <a:ln/>
        </p:spPr>
        <p:txBody>
          <a:bodyPr wrap="square" rtlCol="0" anchor="ctr"/>
          <a:lstStyle/>
          <a:p>
            <a:pPr indent="0" marL="0">
              <a:buNone/>
            </a:pPr>
            <a:r>
              <a:rPr lang="en-US" sz="1050" b="1" dirty="0">
                <a:solidFill>
                  <a:srgbClr val="06B6D4"/>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Stateless engines — safe across concurrent requests</a:t>
            </a:r>
            <a:endParaRPr lang="en-US" sz="1050" dirty="0"/>
          </a:p>
        </p:txBody>
      </p:sp>
      <p:sp>
        <p:nvSpPr>
          <p:cNvPr id="25" name="Text 23"/>
          <p:cNvSpPr/>
          <p:nvPr/>
        </p:nvSpPr>
        <p:spPr>
          <a:xfrm>
            <a:off x="411480" y="4709160"/>
            <a:ext cx="8229600" cy="201168"/>
          </a:xfrm>
          <a:prstGeom prst="rect">
            <a:avLst/>
          </a:prstGeom>
          <a:noFill/>
          <a:ln/>
        </p:spPr>
        <p:txBody>
          <a:bodyPr wrap="square" rtlCol="0" anchor="ctr"/>
          <a:lstStyle/>
          <a:p>
            <a:pPr indent="0" marL="0">
              <a:buNone/>
            </a:pPr>
            <a:r>
              <a:rPr lang="en-US" sz="1050" b="1" dirty="0">
                <a:solidFill>
                  <a:srgbClr val="06B6D4"/>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Deep-copied snapshots — step replay correctness</a:t>
            </a:r>
            <a:endParaRPr lang="en-US" sz="1050" dirty="0"/>
          </a:p>
        </p:txBody>
      </p:sp>
      <p:sp>
        <p:nvSpPr>
          <p:cNvPr id="26" name="Text 24"/>
          <p:cNvSpPr/>
          <p:nvPr/>
        </p:nvSpPr>
        <p:spPr>
          <a:xfrm>
            <a:off x="411480" y="4910328"/>
            <a:ext cx="8229600" cy="201168"/>
          </a:xfrm>
          <a:prstGeom prst="rect">
            <a:avLst/>
          </a:prstGeom>
          <a:noFill/>
          <a:ln/>
        </p:spPr>
        <p:txBody>
          <a:bodyPr wrap="square" rtlCol="0" anchor="ctr"/>
          <a:lstStyle/>
          <a:p>
            <a:pPr indent="0" marL="0">
              <a:buNone/>
            </a:pPr>
            <a:r>
              <a:rPr lang="en-US" sz="1050" b="1" dirty="0">
                <a:solidFill>
                  <a:srgbClr val="06B6D4"/>
                </a:solidFill>
                <a:latin typeface="Calibri" pitchFamily="34" charset="0"/>
                <a:ea typeface="Calibri" pitchFamily="34" charset="-122"/>
                <a:cs typeface="Calibri" pitchFamily="34" charset="-120"/>
              </a:rPr>
              <a:t>▸  </a:t>
            </a:r>
            <a:pPr indent="0" marL="0">
              <a:buNone/>
            </a:pPr>
            <a:r>
              <a:rPr lang="en-US" sz="1050" dirty="0">
                <a:solidFill>
                  <a:srgbClr val="CBD5E1"/>
                </a:solidFill>
                <a:latin typeface="Calibri" pitchFamily="34" charset="0"/>
                <a:ea typeface="Calibri" pitchFamily="34" charset="-122"/>
                <a:cs typeface="Calibri" pitchFamily="34" charset="-120"/>
              </a:rPr>
              <a:t>ExecutionEngine weaves Phase 1 + Phase 3 timelines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Code Implementation</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Code Implementation</a:t>
            </a:r>
            <a:endParaRPr lang="en-US" sz="2800" dirty="0"/>
          </a:p>
        </p:txBody>
      </p:sp>
      <p:sp>
        <p:nvSpPr>
          <p:cNvPr id="5" name="Shape 3"/>
          <p:cNvSpPr/>
          <p:nvPr/>
        </p:nvSpPr>
        <p:spPr>
          <a:xfrm>
            <a:off x="347472" y="896112"/>
            <a:ext cx="5120640" cy="3977640"/>
          </a:xfrm>
          <a:prstGeom prst="rect">
            <a:avLst/>
          </a:prstGeom>
          <a:solidFill>
            <a:srgbClr val="0D1117"/>
          </a:solidFill>
          <a:ln w="19050">
            <a:solidFill>
              <a:srgbClr val="38BDF8"/>
            </a:solidFill>
            <a:prstDash val="solid"/>
          </a:ln>
          <a:effectLst>
            <a:outerShdw sx="100000" sy="100000" kx="0" ky="0" algn="bl" rotWithShape="0" blurRad="101600" dist="25400" dir="8100000">
              <a:srgbClr val="000000">
                <a:alpha val="28000"/>
              </a:srgbClr>
            </a:outerShdw>
          </a:effectLst>
        </p:spPr>
      </p:sp>
      <p:sp>
        <p:nvSpPr>
          <p:cNvPr id="6" name="Text 4"/>
          <p:cNvSpPr/>
          <p:nvPr/>
        </p:nvSpPr>
        <p:spPr>
          <a:xfrm>
            <a:off x="438912" y="932688"/>
            <a:ext cx="4937760" cy="274320"/>
          </a:xfrm>
          <a:prstGeom prst="rect">
            <a:avLst/>
          </a:prstGeom>
          <a:noFill/>
          <a:ln/>
        </p:spPr>
        <p:txBody>
          <a:bodyPr wrap="square" rtlCol="0" anchor="ctr"/>
          <a:lstStyle/>
          <a:p>
            <a:pPr indent="0" marL="0">
              <a:buNone/>
            </a:pPr>
            <a:r>
              <a:rPr lang="en-US" sz="900" i="1" dirty="0">
                <a:solidFill>
                  <a:srgbClr val="94A3B8"/>
                </a:solidFill>
                <a:latin typeface="Courier New" pitchFamily="34" charset="0"/>
                <a:ea typeface="Courier New" pitchFamily="34" charset="-122"/>
                <a:cs typeface="Courier New" pitchFamily="34" charset="-120"/>
              </a:rPr>
              <a:t># engine/sync_engine.py  —  _step() snapshot</a:t>
            </a:r>
            <a:endParaRPr lang="en-US" sz="900" dirty="0"/>
          </a:p>
        </p:txBody>
      </p:sp>
      <p:sp>
        <p:nvSpPr>
          <p:cNvPr id="7" name="Text 5"/>
          <p:cNvSpPr/>
          <p:nvPr/>
        </p:nvSpPr>
        <p:spPr>
          <a:xfrm>
            <a:off x="457200" y="1234440"/>
            <a:ext cx="4846320" cy="201168"/>
          </a:xfrm>
          <a:prstGeom prst="rect">
            <a:avLst/>
          </a:prstGeom>
          <a:noFill/>
          <a:ln/>
        </p:spPr>
        <p:txBody>
          <a:bodyPr wrap="square" lIns="0" tIns="0" rIns="0" bIns="0" rtlCol="0" anchor="ctr"/>
          <a:lstStyle/>
          <a:p>
            <a:pPr indent="0" marL="0">
              <a:buNone/>
            </a:pPr>
            <a:r>
              <a:rPr lang="en-US" sz="980" dirty="0">
                <a:solidFill>
                  <a:srgbClr val="79C0FF"/>
                </a:solidFill>
                <a:latin typeface="Courier New" pitchFamily="34" charset="0"/>
                <a:ea typeface="Courier New" pitchFamily="34" charset="-122"/>
                <a:cs typeface="Courier New" pitchFamily="34" charset="-120"/>
              </a:rPr>
              <a:t>def _step(self, tick, processes, action,</a:t>
            </a:r>
            <a:endParaRPr lang="en-US" sz="980" dirty="0"/>
          </a:p>
        </p:txBody>
      </p:sp>
      <p:sp>
        <p:nvSpPr>
          <p:cNvPr id="8" name="Text 6"/>
          <p:cNvSpPr/>
          <p:nvPr/>
        </p:nvSpPr>
        <p:spPr>
          <a:xfrm>
            <a:off x="457200" y="1412748"/>
            <a:ext cx="4846320" cy="201168"/>
          </a:xfrm>
          <a:prstGeom prst="rect">
            <a:avLst/>
          </a:prstGeom>
          <a:noFill/>
          <a:ln/>
        </p:spPr>
        <p:txBody>
          <a:bodyPr wrap="square" lIns="0" tIns="0" rIns="0" bIns="0" rtlCol="0" anchor="ctr"/>
          <a:lstStyle/>
          <a:p>
            <a:pPr indent="0" marL="0">
              <a:buNone/>
            </a:pPr>
            <a:r>
              <a:rPr lang="en-US" sz="980" dirty="0">
                <a:solidFill>
                  <a:srgbClr val="79C0FF"/>
                </a:solidFill>
                <a:latin typeface="Courier New" pitchFamily="34" charset="0"/>
                <a:ea typeface="Courier New" pitchFamily="34" charset="-122"/>
                <a:cs typeface="Courier New" pitchFamily="34" charset="-120"/>
              </a:rPr>
              <a:t>          *, critical_section=None,</a:t>
            </a:r>
            <a:endParaRPr lang="en-US" sz="980" dirty="0"/>
          </a:p>
        </p:txBody>
      </p:sp>
      <p:sp>
        <p:nvSpPr>
          <p:cNvPr id="9" name="Text 7"/>
          <p:cNvSpPr/>
          <p:nvPr/>
        </p:nvSpPr>
        <p:spPr>
          <a:xfrm>
            <a:off x="457200" y="1591056"/>
            <a:ext cx="4846320" cy="201168"/>
          </a:xfrm>
          <a:prstGeom prst="rect">
            <a:avLst/>
          </a:prstGeom>
          <a:noFill/>
          <a:ln/>
        </p:spPr>
        <p:txBody>
          <a:bodyPr wrap="square" lIns="0" tIns="0" rIns="0" bIns="0" rtlCol="0" anchor="ctr"/>
          <a:lstStyle/>
          <a:p>
            <a:pPr indent="0" marL="0">
              <a:buNone/>
            </a:pPr>
            <a:r>
              <a:rPr lang="en-US" sz="980" dirty="0">
                <a:solidFill>
                  <a:srgbClr val="79C0FF"/>
                </a:solidFill>
                <a:latin typeface="Courier New" pitchFamily="34" charset="0"/>
                <a:ea typeface="Courier New" pitchFamily="34" charset="-122"/>
                <a:cs typeface="Courier New" pitchFamily="34" charset="-120"/>
              </a:rPr>
              <a:t>             waiting_queue=None,   ...):</a:t>
            </a:r>
            <a:endParaRPr lang="en-US" sz="980" dirty="0"/>
          </a:p>
        </p:txBody>
      </p:sp>
      <p:sp>
        <p:nvSpPr>
          <p:cNvPr id="10" name="Text 8"/>
          <p:cNvSpPr/>
          <p:nvPr/>
        </p:nvSpPr>
        <p:spPr>
          <a:xfrm>
            <a:off x="457200" y="1769364"/>
            <a:ext cx="4846320" cy="201168"/>
          </a:xfrm>
          <a:prstGeom prst="rect">
            <a:avLst/>
          </a:prstGeom>
          <a:noFill/>
          <a:ln/>
        </p:spPr>
        <p:txBody>
          <a:bodyPr wrap="square" lIns="0" tIns="0" rIns="0" bIns="0" rtlCol="0" anchor="ctr"/>
          <a:lstStyle/>
          <a:p>
            <a:pPr indent="0" marL="0">
              <a:buNone/>
            </a:pPr>
            <a:r>
              <a:rPr lang="en-US" sz="980" dirty="0">
                <a:solidFill>
                  <a:srgbClr val="CBD5E1"/>
                </a:solidFill>
                <a:latin typeface="Courier New" pitchFamily="34" charset="0"/>
                <a:ea typeface="Courier New" pitchFamily="34" charset="-122"/>
                <a:cs typeface="Courier New" pitchFamily="34" charset="-120"/>
              </a:rPr>
              <a:t>  return {</a:t>
            </a:r>
            <a:endParaRPr lang="en-US" sz="980" dirty="0"/>
          </a:p>
        </p:txBody>
      </p:sp>
      <p:sp>
        <p:nvSpPr>
          <p:cNvPr id="11" name="Text 9"/>
          <p:cNvSpPr/>
          <p:nvPr/>
        </p:nvSpPr>
        <p:spPr>
          <a:xfrm>
            <a:off x="457200" y="1947672"/>
            <a:ext cx="4846320" cy="201168"/>
          </a:xfrm>
          <a:prstGeom prst="rect">
            <a:avLst/>
          </a:prstGeom>
          <a:noFill/>
          <a:ln/>
        </p:spPr>
        <p:txBody>
          <a:bodyPr wrap="square" lIns="0" tIns="0" rIns="0" bIns="0" rtlCol="0" anchor="ctr"/>
          <a:lstStyle/>
          <a:p>
            <a:pPr indent="0" marL="0">
              <a:buNone/>
            </a:pPr>
            <a:r>
              <a:rPr lang="en-US" sz="980" dirty="0">
                <a:solidFill>
                  <a:srgbClr val="A5D6FF"/>
                </a:solidFill>
                <a:latin typeface="Courier New" pitchFamily="34" charset="0"/>
                <a:ea typeface="Courier New" pitchFamily="34" charset="-122"/>
                <a:cs typeface="Courier New" pitchFamily="34" charset="-120"/>
              </a:rPr>
              <a:t>    'processes':  deepcopy(processes),</a:t>
            </a:r>
            <a:endParaRPr lang="en-US" sz="980" dirty="0"/>
          </a:p>
        </p:txBody>
      </p:sp>
      <p:sp>
        <p:nvSpPr>
          <p:cNvPr id="12" name="Text 10"/>
          <p:cNvSpPr/>
          <p:nvPr/>
        </p:nvSpPr>
        <p:spPr>
          <a:xfrm>
            <a:off x="457200" y="2125980"/>
            <a:ext cx="4846320" cy="201168"/>
          </a:xfrm>
          <a:prstGeom prst="rect">
            <a:avLst/>
          </a:prstGeom>
          <a:noFill/>
          <a:ln/>
        </p:spPr>
        <p:txBody>
          <a:bodyPr wrap="square" lIns="0" tIns="0" rIns="0" bIns="0" rtlCol="0" anchor="ctr"/>
          <a:lstStyle/>
          <a:p>
            <a:pPr indent="0" marL="0">
              <a:buNone/>
            </a:pPr>
            <a:r>
              <a:rPr lang="en-US" sz="980" dirty="0">
                <a:solidFill>
                  <a:srgbClr val="A5D6FF"/>
                </a:solidFill>
                <a:latin typeface="Courier New" pitchFamily="34" charset="0"/>
                <a:ea typeface="Courier New" pitchFamily="34" charset="-122"/>
                <a:cs typeface="Courier New" pitchFamily="34" charset="-120"/>
              </a:rPr>
              <a:t>    'critical_section':  list(cs or []),</a:t>
            </a:r>
            <a:endParaRPr lang="en-US" sz="980" dirty="0"/>
          </a:p>
        </p:txBody>
      </p:sp>
      <p:sp>
        <p:nvSpPr>
          <p:cNvPr id="13" name="Text 11"/>
          <p:cNvSpPr/>
          <p:nvPr/>
        </p:nvSpPr>
        <p:spPr>
          <a:xfrm>
            <a:off x="457200" y="2304288"/>
            <a:ext cx="4846320" cy="201168"/>
          </a:xfrm>
          <a:prstGeom prst="rect">
            <a:avLst/>
          </a:prstGeom>
          <a:noFill/>
          <a:ln/>
        </p:spPr>
        <p:txBody>
          <a:bodyPr wrap="square" lIns="0" tIns="0" rIns="0" bIns="0" rtlCol="0" anchor="ctr"/>
          <a:lstStyle/>
          <a:p>
            <a:pPr indent="0" marL="0">
              <a:buNone/>
            </a:pPr>
            <a:r>
              <a:rPr lang="en-US" sz="980" dirty="0">
                <a:solidFill>
                  <a:srgbClr val="A5D6FF"/>
                </a:solidFill>
                <a:latin typeface="Courier New" pitchFamily="34" charset="0"/>
                <a:ea typeface="Courier New" pitchFamily="34" charset="-122"/>
                <a:cs typeface="Courier New" pitchFamily="34" charset="-120"/>
              </a:rPr>
              <a:t>    'waiting_queue':     list(wq or []),</a:t>
            </a:r>
            <a:endParaRPr lang="en-US" sz="980" dirty="0"/>
          </a:p>
        </p:txBody>
      </p:sp>
      <p:sp>
        <p:nvSpPr>
          <p:cNvPr id="14" name="Text 12"/>
          <p:cNvSpPr/>
          <p:nvPr/>
        </p:nvSpPr>
        <p:spPr>
          <a:xfrm>
            <a:off x="457200" y="2482596"/>
            <a:ext cx="4846320" cy="201168"/>
          </a:xfrm>
          <a:prstGeom prst="rect">
            <a:avLst/>
          </a:prstGeom>
          <a:noFill/>
          <a:ln/>
        </p:spPr>
        <p:txBody>
          <a:bodyPr wrap="square" lIns="0" tIns="0" rIns="0" bIns="0" rtlCol="0" anchor="ctr"/>
          <a:lstStyle/>
          <a:p>
            <a:pPr indent="0" marL="0">
              <a:buNone/>
            </a:pPr>
            <a:r>
              <a:rPr lang="en-US" sz="980" dirty="0">
                <a:solidFill>
                  <a:srgbClr val="A5D6FF"/>
                </a:solidFill>
                <a:latin typeface="Courier New" pitchFamily="34" charset="0"/>
                <a:ea typeface="Courier New" pitchFamily="34" charset="-122"/>
                <a:cs typeface="Courier New" pitchFamily="34" charset="-120"/>
              </a:rPr>
              <a:t>    'resources':   deepcopy(resources),</a:t>
            </a:r>
            <a:endParaRPr lang="en-US" sz="980" dirty="0"/>
          </a:p>
        </p:txBody>
      </p:sp>
      <p:sp>
        <p:nvSpPr>
          <p:cNvPr id="15" name="Text 13"/>
          <p:cNvSpPr/>
          <p:nvPr/>
        </p:nvSpPr>
        <p:spPr>
          <a:xfrm>
            <a:off x="457200" y="2660904"/>
            <a:ext cx="4846320" cy="201168"/>
          </a:xfrm>
          <a:prstGeom prst="rect">
            <a:avLst/>
          </a:prstGeom>
          <a:noFill/>
          <a:ln/>
        </p:spPr>
        <p:txBody>
          <a:bodyPr wrap="square" lIns="0" tIns="0" rIns="0" bIns="0" rtlCol="0" anchor="ctr"/>
          <a:lstStyle/>
          <a:p>
            <a:pPr indent="0" marL="0">
              <a:buNone/>
            </a:pPr>
            <a:r>
              <a:rPr lang="en-US" sz="980" dirty="0">
                <a:solidFill>
                  <a:srgbClr val="A5D6FF"/>
                </a:solidFill>
                <a:latin typeface="Courier New" pitchFamily="34" charset="0"/>
                <a:ea typeface="Courier New" pitchFamily="34" charset="-122"/>
                <a:cs typeface="Courier New" pitchFamily="34" charset="-120"/>
              </a:rPr>
              <a:t>    'shared_vars': deepcopy(shared_vars),</a:t>
            </a:r>
            <a:endParaRPr lang="en-US" sz="980" dirty="0"/>
          </a:p>
        </p:txBody>
      </p:sp>
      <p:sp>
        <p:nvSpPr>
          <p:cNvPr id="16" name="Text 14"/>
          <p:cNvSpPr/>
          <p:nvPr/>
        </p:nvSpPr>
        <p:spPr>
          <a:xfrm>
            <a:off x="457200" y="2839212"/>
            <a:ext cx="4846320" cy="201168"/>
          </a:xfrm>
          <a:prstGeom prst="rect">
            <a:avLst/>
          </a:prstGeom>
          <a:noFill/>
          <a:ln/>
        </p:spPr>
        <p:txBody>
          <a:bodyPr wrap="square" lIns="0" tIns="0" rIns="0" bIns="0" rtlCol="0" anchor="ctr"/>
          <a:lstStyle/>
          <a:p>
            <a:pPr indent="0" marL="0">
              <a:buNone/>
            </a:pPr>
            <a:r>
              <a:rPr lang="en-US" sz="980" dirty="0">
                <a:solidFill>
                  <a:srgbClr val="CBD5E1"/>
                </a:solidFill>
                <a:latin typeface="Courier New" pitchFamily="34" charset="0"/>
                <a:ea typeface="Courier New" pitchFamily="34" charset="-122"/>
                <a:cs typeface="Courier New" pitchFamily="34" charset="-120"/>
              </a:rPr>
              <a:t>  }</a:t>
            </a:r>
            <a:endParaRPr lang="en-US" sz="980" dirty="0"/>
          </a:p>
        </p:txBody>
      </p:sp>
      <p:sp>
        <p:nvSpPr>
          <p:cNvPr id="17" name="Text 15"/>
          <p:cNvSpPr/>
          <p:nvPr/>
        </p:nvSpPr>
        <p:spPr>
          <a:xfrm>
            <a:off x="457200" y="3017520"/>
            <a:ext cx="4846320" cy="201168"/>
          </a:xfrm>
          <a:prstGeom prst="rect">
            <a:avLst/>
          </a:prstGeom>
          <a:noFill/>
          <a:ln/>
        </p:spPr>
        <p:txBody>
          <a:bodyPr wrap="square" lIns="0" tIns="0" rIns="0" bIns="0" rtlCol="0" anchor="ctr"/>
          <a:lstStyle/>
          <a:p>
            <a:pPr indent="0" marL="0">
              <a:buNone/>
            </a:pPr>
            <a:endParaRPr lang="en-US" sz="980" dirty="0"/>
          </a:p>
        </p:txBody>
      </p:sp>
      <p:sp>
        <p:nvSpPr>
          <p:cNvPr id="18" name="Text 16"/>
          <p:cNvSpPr/>
          <p:nvPr/>
        </p:nvSpPr>
        <p:spPr>
          <a:xfrm>
            <a:off x="457200" y="3195828"/>
            <a:ext cx="4846320" cy="201168"/>
          </a:xfrm>
          <a:prstGeom prst="rect">
            <a:avLst/>
          </a:prstGeom>
          <a:noFill/>
          <a:ln/>
        </p:spPr>
        <p:txBody>
          <a:bodyPr wrap="square" lIns="0" tIns="0" rIns="0" bIns="0"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Peterson entry — P0 defers to P1</a:t>
            </a:r>
            <a:endParaRPr lang="en-US" sz="980" dirty="0"/>
          </a:p>
        </p:txBody>
      </p:sp>
      <p:sp>
        <p:nvSpPr>
          <p:cNvPr id="19" name="Text 17"/>
          <p:cNvSpPr/>
          <p:nvPr/>
        </p:nvSpPr>
        <p:spPr>
          <a:xfrm>
            <a:off x="457200" y="3374136"/>
            <a:ext cx="4846320" cy="201168"/>
          </a:xfrm>
          <a:prstGeom prst="rect">
            <a:avLst/>
          </a:prstGeom>
          <a:noFill/>
          <a:ln/>
        </p:spPr>
        <p:txBody>
          <a:bodyPr wrap="square" lIns="0" tIns="0" rIns="0" bIns="0" rtlCol="0" anchor="ctr"/>
          <a:lstStyle/>
          <a:p>
            <a:pPr indent="0" marL="0">
              <a:buNone/>
            </a:pPr>
            <a:r>
              <a:rPr lang="en-US" sz="980" dirty="0">
                <a:solidFill>
                  <a:srgbClr val="FFD166"/>
                </a:solidFill>
                <a:latin typeface="Courier New" pitchFamily="34" charset="0"/>
                <a:ea typeface="Courier New" pitchFamily="34" charset="-122"/>
                <a:cs typeface="Courier New" pitchFamily="34" charset="-120"/>
              </a:rPr>
              <a:t>flag[0]=True; turn=1  # I defer to P1</a:t>
            </a:r>
            <a:endParaRPr lang="en-US" sz="980" dirty="0"/>
          </a:p>
        </p:txBody>
      </p:sp>
      <p:sp>
        <p:nvSpPr>
          <p:cNvPr id="20" name="Text 18"/>
          <p:cNvSpPr/>
          <p:nvPr/>
        </p:nvSpPr>
        <p:spPr>
          <a:xfrm>
            <a:off x="457200" y="3552444"/>
            <a:ext cx="4846320" cy="201168"/>
          </a:xfrm>
          <a:prstGeom prst="rect">
            <a:avLst/>
          </a:prstGeom>
          <a:noFill/>
          <a:ln/>
        </p:spPr>
        <p:txBody>
          <a:bodyPr wrap="square" lIns="0" tIns="0" rIns="0" bIns="0" rtlCol="0" anchor="ctr"/>
          <a:lstStyle/>
          <a:p>
            <a:pPr indent="0" marL="0">
              <a:buNone/>
            </a:pPr>
            <a:r>
              <a:rPr lang="en-US" sz="980" dirty="0">
                <a:solidFill>
                  <a:srgbClr val="FFD166"/>
                </a:solidFill>
                <a:latin typeface="Courier New" pitchFamily="34" charset="0"/>
                <a:ea typeface="Courier New" pitchFamily="34" charset="-122"/>
                <a:cs typeface="Courier New" pitchFamily="34" charset="-120"/>
              </a:rPr>
              <a:t>flag[1]=True; turn=0  # P1: last write wins</a:t>
            </a:r>
            <a:endParaRPr lang="en-US" sz="980" dirty="0"/>
          </a:p>
        </p:txBody>
      </p:sp>
      <p:sp>
        <p:nvSpPr>
          <p:cNvPr id="21" name="Text 19"/>
          <p:cNvSpPr/>
          <p:nvPr/>
        </p:nvSpPr>
        <p:spPr>
          <a:xfrm>
            <a:off x="457200" y="3730752"/>
            <a:ext cx="4846320" cy="201168"/>
          </a:xfrm>
          <a:prstGeom prst="rect">
            <a:avLst/>
          </a:prstGeom>
          <a:noFill/>
          <a:ln/>
        </p:spPr>
        <p:txBody>
          <a:bodyPr wrap="square" lIns="0" tIns="0" rIns="0" bIns="0"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turn==0 → P0 enters CS first</a:t>
            </a:r>
            <a:endParaRPr lang="en-US" sz="980" dirty="0"/>
          </a:p>
        </p:txBody>
      </p:sp>
      <p:sp>
        <p:nvSpPr>
          <p:cNvPr id="22" name="Text 20"/>
          <p:cNvSpPr/>
          <p:nvPr/>
        </p:nvSpPr>
        <p:spPr>
          <a:xfrm>
            <a:off x="457200" y="3909060"/>
            <a:ext cx="4846320" cy="201168"/>
          </a:xfrm>
          <a:prstGeom prst="rect">
            <a:avLst/>
          </a:prstGeom>
          <a:noFill/>
          <a:ln/>
        </p:spPr>
        <p:txBody>
          <a:bodyPr wrap="square" lIns="0" tIns="0" rIns="0" bIns="0" rtlCol="0" anchor="ctr"/>
          <a:lstStyle/>
          <a:p>
            <a:pPr indent="0" marL="0">
              <a:buNone/>
            </a:pPr>
            <a:r>
              <a:rPr lang="en-US" sz="980" dirty="0">
                <a:solidFill>
                  <a:srgbClr val="A5D6FF"/>
                </a:solidFill>
                <a:latin typeface="Courier New" pitchFamily="34" charset="0"/>
                <a:ea typeface="Courier New" pitchFamily="34" charset="-122"/>
                <a:cs typeface="Courier New" pitchFamily="34" charset="-120"/>
              </a:rPr>
              <a:t>emit("enter_cs","P0 enters", ["P0"],["P1"])</a:t>
            </a:r>
            <a:endParaRPr lang="en-US" sz="980" dirty="0"/>
          </a:p>
        </p:txBody>
      </p:sp>
      <p:sp>
        <p:nvSpPr>
          <p:cNvPr id="23" name="Shape 21"/>
          <p:cNvSpPr/>
          <p:nvPr/>
        </p:nvSpPr>
        <p:spPr>
          <a:xfrm>
            <a:off x="5669280" y="914400"/>
            <a:ext cx="3154680" cy="1207008"/>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24" name="Text 22"/>
          <p:cNvSpPr/>
          <p:nvPr/>
        </p:nvSpPr>
        <p:spPr>
          <a:xfrm>
            <a:off x="5806440" y="1005840"/>
            <a:ext cx="2880360" cy="347472"/>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Deep Copy Required</a:t>
            </a:r>
            <a:endParaRPr lang="en-US" sz="1200" dirty="0"/>
          </a:p>
        </p:txBody>
      </p:sp>
      <p:sp>
        <p:nvSpPr>
          <p:cNvPr id="25" name="Text 23"/>
          <p:cNvSpPr/>
          <p:nvPr/>
        </p:nvSpPr>
        <p:spPr>
          <a:xfrm>
            <a:off x="5806440" y="1389888"/>
            <a:ext cx="2880360" cy="658368"/>
          </a:xfrm>
          <a:prstGeom prst="rect">
            <a:avLst/>
          </a:prstGeom>
          <a:noFill/>
          <a:ln/>
        </p:spPr>
        <p:txBody>
          <a:bodyPr wrap="square" rtlCol="0" anchor="t"/>
          <a:lstStyle/>
          <a:p>
            <a:pPr indent="0" marL="0">
              <a:buNone/>
            </a:pPr>
            <a:r>
              <a:rPr lang="en-US" sz="1000" dirty="0">
                <a:solidFill>
                  <a:srgbClr val="CBD5E1"/>
                </a:solidFill>
                <a:latin typeface="Calibri" pitchFamily="34" charset="0"/>
                <a:ea typeface="Calibri" pitchFamily="34" charset="-122"/>
                <a:cs typeface="Calibri" pitchFamily="34" charset="-120"/>
              </a:rPr>
              <a:t>Every mutable object is deep-copied. Without this, all recorded steps point to the same live object and show the final state only.</a:t>
            </a:r>
            <a:endParaRPr lang="en-US" sz="1000" dirty="0"/>
          </a:p>
        </p:txBody>
      </p:sp>
      <p:sp>
        <p:nvSpPr>
          <p:cNvPr id="26" name="Shape 24"/>
          <p:cNvSpPr/>
          <p:nvPr/>
        </p:nvSpPr>
        <p:spPr>
          <a:xfrm>
            <a:off x="5669280" y="2240280"/>
            <a:ext cx="3154680" cy="1207008"/>
          </a:xfrm>
          <a:prstGeom prst="rect">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27" name="Text 25"/>
          <p:cNvSpPr/>
          <p:nvPr/>
        </p:nvSpPr>
        <p:spPr>
          <a:xfrm>
            <a:off x="5806440" y="2331720"/>
            <a:ext cx="2880360" cy="347472"/>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Peterson's Key Insight</a:t>
            </a:r>
            <a:endParaRPr lang="en-US" sz="1200" dirty="0"/>
          </a:p>
        </p:txBody>
      </p:sp>
      <p:sp>
        <p:nvSpPr>
          <p:cNvPr id="28" name="Text 26"/>
          <p:cNvSpPr/>
          <p:nvPr/>
        </p:nvSpPr>
        <p:spPr>
          <a:xfrm>
            <a:off x="5806440" y="2715768"/>
            <a:ext cx="2880360" cy="658368"/>
          </a:xfrm>
          <a:prstGeom prst="rect">
            <a:avLst/>
          </a:prstGeom>
          <a:noFill/>
          <a:ln/>
        </p:spPr>
        <p:txBody>
          <a:bodyPr wrap="square" rtlCol="0" anchor="t"/>
          <a:lstStyle/>
          <a:p>
            <a:pPr indent="0" marL="0">
              <a:buNone/>
            </a:pPr>
            <a:r>
              <a:rPr lang="en-US" sz="1000" dirty="0">
                <a:solidFill>
                  <a:srgbClr val="CBD5E1"/>
                </a:solidFill>
                <a:latin typeface="Calibri" pitchFamily="34" charset="0"/>
                <a:ea typeface="Calibri" pitchFamily="34" charset="-122"/>
                <a:cs typeface="Calibri" pitchFamily="34" charset="-120"/>
              </a:rPr>
              <a:t>Both processes set turn to the OTHER process. Last write wins — so P1's write (turn=0) means P0 enters first. This is Silberschatz §6.3.1.</a:t>
            </a:r>
            <a:endParaRPr lang="en-US" sz="1000" dirty="0"/>
          </a:p>
        </p:txBody>
      </p:sp>
      <p:sp>
        <p:nvSpPr>
          <p:cNvPr id="29" name="Shape 27"/>
          <p:cNvSpPr/>
          <p:nvPr/>
        </p:nvSpPr>
        <p:spPr>
          <a:xfrm>
            <a:off x="5669280" y="3566160"/>
            <a:ext cx="3154680" cy="1207008"/>
          </a:xfrm>
          <a:prstGeom prst="rect">
            <a:avLst/>
          </a:prstGeom>
          <a:solidFill>
            <a:srgbClr val="1E293B"/>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30" name="Text 28"/>
          <p:cNvSpPr/>
          <p:nvPr/>
        </p:nvSpPr>
        <p:spPr>
          <a:xfrm>
            <a:off x="5806440" y="3657600"/>
            <a:ext cx="2880360" cy="347472"/>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Waiting Queue</a:t>
            </a:r>
            <a:endParaRPr lang="en-US" sz="1200" dirty="0"/>
          </a:p>
        </p:txBody>
      </p:sp>
      <p:sp>
        <p:nvSpPr>
          <p:cNvPr id="31" name="Text 29"/>
          <p:cNvSpPr/>
          <p:nvPr/>
        </p:nvSpPr>
        <p:spPr>
          <a:xfrm>
            <a:off x="5806440" y="4041648"/>
            <a:ext cx="2880360" cy="658368"/>
          </a:xfrm>
          <a:prstGeom prst="rect">
            <a:avLst/>
          </a:prstGeom>
          <a:noFill/>
          <a:ln/>
        </p:spPr>
        <p:txBody>
          <a:bodyPr wrap="square" rtlCol="0" anchor="t"/>
          <a:lstStyle/>
          <a:p>
            <a:pPr indent="0" marL="0">
              <a:buNone/>
            </a:pPr>
            <a:r>
              <a:rPr lang="en-US" sz="1000" dirty="0">
                <a:solidFill>
                  <a:srgbClr val="CBD5E1"/>
                </a:solidFill>
                <a:latin typeface="Calibri" pitchFamily="34" charset="0"/>
                <a:ea typeface="Calibri" pitchFamily="34" charset="-122"/>
                <a:cs typeface="Calibri" pitchFamily="34" charset="-120"/>
              </a:rPr>
              <a:t>waiting_queue is passed per step. The canvas renders these as amber chips below the Shared Resource box, with a dashed entry arrow.</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Simulation Output — Screenshots</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Simulation Output — Screenshots</a:t>
            </a:r>
            <a:endParaRPr lang="en-US" sz="2800" dirty="0"/>
          </a:p>
        </p:txBody>
      </p:sp>
      <p:sp>
        <p:nvSpPr>
          <p:cNvPr id="5" name="Shape 3"/>
          <p:cNvSpPr/>
          <p:nvPr/>
        </p:nvSpPr>
        <p:spPr>
          <a:xfrm>
            <a:off x="347472" y="960120"/>
            <a:ext cx="4206240" cy="1920240"/>
          </a:xfrm>
          <a:prstGeom prst="rect">
            <a:avLst/>
          </a:prstGeom>
          <a:solidFill>
            <a:srgbClr val="1E293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6" name="Shape 4"/>
          <p:cNvSpPr/>
          <p:nvPr/>
        </p:nvSpPr>
        <p:spPr>
          <a:xfrm>
            <a:off x="484632" y="1069848"/>
            <a:ext cx="2331720" cy="1261872"/>
          </a:xfrm>
          <a:prstGeom prst="roundRect">
            <a:avLst>
              <a:gd name="adj" fmla="val 2899"/>
            </a:avLst>
          </a:prstGeom>
          <a:solidFill>
            <a:srgbClr val="0D1526"/>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7" name="Text 5"/>
          <p:cNvSpPr/>
          <p:nvPr/>
        </p:nvSpPr>
        <p:spPr>
          <a:xfrm>
            <a:off x="484632" y="1069848"/>
            <a:ext cx="2331720" cy="1261872"/>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  Screenshot  ]</a:t>
            </a:r>
            <a:endParaRPr lang="en-US" sz="1100" dirty="0"/>
          </a:p>
        </p:txBody>
      </p:sp>
      <p:sp>
        <p:nvSpPr>
          <p:cNvPr id="8" name="Text 6"/>
          <p:cNvSpPr/>
          <p:nvPr/>
        </p:nvSpPr>
        <p:spPr>
          <a:xfrm>
            <a:off x="2926080" y="1051560"/>
            <a:ext cx="1481328" cy="438912"/>
          </a:xfrm>
          <a:prstGeom prst="rect">
            <a:avLst/>
          </a:prstGeom>
          <a:noFill/>
          <a:ln/>
        </p:spPr>
        <p:txBody>
          <a:bodyPr wrap="square" rtlCol="0" anchor="t"/>
          <a:lstStyle/>
          <a:p>
            <a:pPr indent="0" marL="0">
              <a:buNone/>
            </a:pPr>
            <a:r>
              <a:rPr lang="en-US" sz="1100" b="1" dirty="0">
                <a:solidFill>
                  <a:srgbClr val="2563EB"/>
                </a:solidFill>
                <a:latin typeface="Calibri" pitchFamily="34" charset="0"/>
                <a:ea typeface="Calibri" pitchFamily="34" charset="-122"/>
                <a:cs typeface="Calibri" pitchFamily="34" charset="-120"/>
              </a:rPr>
              <a:t>Phase 1 — Gantt Charts</a:t>
            </a:r>
            <a:endParaRPr lang="en-US" sz="1100" dirty="0"/>
          </a:p>
        </p:txBody>
      </p:sp>
      <p:sp>
        <p:nvSpPr>
          <p:cNvPr id="9" name="Text 7"/>
          <p:cNvSpPr/>
          <p:nvPr/>
        </p:nvSpPr>
        <p:spPr>
          <a:xfrm>
            <a:off x="2926080" y="1508760"/>
            <a:ext cx="1481328" cy="1261872"/>
          </a:xfrm>
          <a:prstGeom prst="rect">
            <a:avLst/>
          </a:prstGeom>
          <a:noFill/>
          <a:ln/>
        </p:spPr>
        <p:txBody>
          <a:bodyPr wrap="square" rtlCol="0" anchor="t"/>
          <a:lstStyle/>
          <a:p>
            <a:pPr indent="0" marL="0">
              <a:buNone/>
            </a:pPr>
            <a:r>
              <a:rPr lang="en-US" sz="950" dirty="0">
                <a:solidFill>
                  <a:srgbClr val="CBD5E1"/>
                </a:solidFill>
                <a:latin typeface="Calibri" pitchFamily="34" charset="0"/>
                <a:ea typeface="Calibri" pitchFamily="34" charset="-122"/>
                <a:cs typeface="Calibri" pitchFamily="34" charset="-120"/>
              </a:rPr>
              <a:t>Multi-algorithm Gantt chart canvas. Pink = Round Robin, Teal = SJF. Metrics table below (CT, TAT, WT, RT per process).</a:t>
            </a:r>
            <a:endParaRPr lang="en-US" sz="950" dirty="0"/>
          </a:p>
        </p:txBody>
      </p:sp>
      <p:sp>
        <p:nvSpPr>
          <p:cNvPr id="10" name="Shape 8"/>
          <p:cNvSpPr/>
          <p:nvPr/>
        </p:nvSpPr>
        <p:spPr>
          <a:xfrm>
            <a:off x="4754880" y="960120"/>
            <a:ext cx="4206240" cy="1920240"/>
          </a:xfrm>
          <a:prstGeom prst="rect">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1" name="Shape 9"/>
          <p:cNvSpPr/>
          <p:nvPr/>
        </p:nvSpPr>
        <p:spPr>
          <a:xfrm>
            <a:off x="4892040" y="1069848"/>
            <a:ext cx="2331720" cy="1261872"/>
          </a:xfrm>
          <a:prstGeom prst="roundRect">
            <a:avLst>
              <a:gd name="adj" fmla="val 2899"/>
            </a:avLst>
          </a:prstGeom>
          <a:solidFill>
            <a:srgbClr val="0D1526"/>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2" name="Text 10"/>
          <p:cNvSpPr/>
          <p:nvPr/>
        </p:nvSpPr>
        <p:spPr>
          <a:xfrm>
            <a:off x="4892040" y="1069848"/>
            <a:ext cx="2331720" cy="1261872"/>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  Screenshot  ]</a:t>
            </a:r>
            <a:endParaRPr lang="en-US" sz="1100" dirty="0"/>
          </a:p>
        </p:txBody>
      </p:sp>
      <p:sp>
        <p:nvSpPr>
          <p:cNvPr id="13" name="Text 11"/>
          <p:cNvSpPr/>
          <p:nvPr/>
        </p:nvSpPr>
        <p:spPr>
          <a:xfrm>
            <a:off x="7333488" y="1051560"/>
            <a:ext cx="1481328" cy="438912"/>
          </a:xfrm>
          <a:prstGeom prst="rect">
            <a:avLst/>
          </a:prstGeom>
          <a:noFill/>
          <a:ln/>
        </p:spPr>
        <p:txBody>
          <a:bodyPr wrap="square" rtlCol="0" anchor="t"/>
          <a:lstStyle/>
          <a:p>
            <a:pPr indent="0" marL="0">
              <a:buNone/>
            </a:pPr>
            <a:r>
              <a:rPr lang="en-US" sz="1100" b="1" dirty="0">
                <a:solidFill>
                  <a:srgbClr val="F59E0B"/>
                </a:solidFill>
                <a:latin typeface="Calibri" pitchFamily="34" charset="0"/>
                <a:ea typeface="Calibri" pitchFamily="34" charset="-122"/>
                <a:cs typeface="Calibri" pitchFamily="34" charset="-120"/>
              </a:rPr>
              <a:t>Phase 2 — Problem Detection</a:t>
            </a:r>
            <a:endParaRPr lang="en-US" sz="1100" dirty="0"/>
          </a:p>
        </p:txBody>
      </p:sp>
      <p:sp>
        <p:nvSpPr>
          <p:cNvPr id="14" name="Text 12"/>
          <p:cNvSpPr/>
          <p:nvPr/>
        </p:nvSpPr>
        <p:spPr>
          <a:xfrm>
            <a:off x="7333488" y="1508760"/>
            <a:ext cx="1481328" cy="1261872"/>
          </a:xfrm>
          <a:prstGeom prst="rect">
            <a:avLst/>
          </a:prstGeom>
          <a:noFill/>
          <a:ln/>
        </p:spPr>
        <p:txBody>
          <a:bodyPr wrap="square" rtlCol="0" anchor="t"/>
          <a:lstStyle/>
          <a:p>
            <a:pPr indent="0" marL="0">
              <a:buNone/>
            </a:pPr>
            <a:r>
              <a:rPr lang="en-US" sz="950" dirty="0">
                <a:solidFill>
                  <a:srgbClr val="CBD5E1"/>
                </a:solidFill>
                <a:latin typeface="Calibri" pitchFamily="34" charset="0"/>
                <a:ea typeface="Calibri" pitchFamily="34" charset="-122"/>
                <a:cs typeface="Calibri" pitchFamily="34" charset="-120"/>
              </a:rPr>
              <a:t>Race condition and deadlock badges. Severity rating based on preemption level. Processes involved are highlighted.</a:t>
            </a:r>
            <a:endParaRPr lang="en-US" sz="950" dirty="0"/>
          </a:p>
        </p:txBody>
      </p:sp>
      <p:sp>
        <p:nvSpPr>
          <p:cNvPr id="15" name="Shape 13"/>
          <p:cNvSpPr/>
          <p:nvPr/>
        </p:nvSpPr>
        <p:spPr>
          <a:xfrm>
            <a:off x="347472" y="3044952"/>
            <a:ext cx="4206240" cy="1920240"/>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6" name="Shape 14"/>
          <p:cNvSpPr/>
          <p:nvPr/>
        </p:nvSpPr>
        <p:spPr>
          <a:xfrm>
            <a:off x="484632" y="3154680"/>
            <a:ext cx="2331720" cy="1261872"/>
          </a:xfrm>
          <a:prstGeom prst="roundRect">
            <a:avLst>
              <a:gd name="adj" fmla="val 2899"/>
            </a:avLst>
          </a:prstGeom>
          <a:solidFill>
            <a:srgbClr val="0D1526"/>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7" name="Text 15"/>
          <p:cNvSpPr/>
          <p:nvPr/>
        </p:nvSpPr>
        <p:spPr>
          <a:xfrm>
            <a:off x="484632" y="3154680"/>
            <a:ext cx="2331720" cy="1261872"/>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  Screenshot  ]</a:t>
            </a:r>
            <a:endParaRPr lang="en-US" sz="1100" dirty="0"/>
          </a:p>
        </p:txBody>
      </p:sp>
      <p:sp>
        <p:nvSpPr>
          <p:cNvPr id="18" name="Text 16"/>
          <p:cNvSpPr/>
          <p:nvPr/>
        </p:nvSpPr>
        <p:spPr>
          <a:xfrm>
            <a:off x="2926080" y="3136392"/>
            <a:ext cx="1481328" cy="438912"/>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Phase 3 — Live Canvas</a:t>
            </a:r>
            <a:endParaRPr lang="en-US" sz="1100" dirty="0"/>
          </a:p>
        </p:txBody>
      </p:sp>
      <p:sp>
        <p:nvSpPr>
          <p:cNvPr id="19" name="Text 17"/>
          <p:cNvSpPr/>
          <p:nvPr/>
        </p:nvSpPr>
        <p:spPr>
          <a:xfrm>
            <a:off x="2926080" y="3593592"/>
            <a:ext cx="1481328" cy="1261872"/>
          </a:xfrm>
          <a:prstGeom prst="rect">
            <a:avLst/>
          </a:prstGeom>
          <a:noFill/>
          <a:ln/>
        </p:spPr>
        <p:txBody>
          <a:bodyPr wrap="square" rtlCol="0" anchor="t"/>
          <a:lstStyle/>
          <a:p>
            <a:pPr indent="0" marL="0">
              <a:buNone/>
            </a:pPr>
            <a:r>
              <a:rPr lang="en-US" sz="950" dirty="0">
                <a:solidFill>
                  <a:srgbClr val="CBD5E1"/>
                </a:solidFill>
                <a:latin typeface="Calibri" pitchFamily="34" charset="0"/>
                <a:ea typeface="Calibri" pitchFamily="34" charset="-122"/>
                <a:cs typeface="Calibri" pitchFamily="34" charset="-120"/>
              </a:rPr>
              <a:t>Green-glowing process inside Shared Resource box. Amber chips in waiting queue below. Dashed upward arrow shows intent to enter.</a:t>
            </a:r>
            <a:endParaRPr lang="en-US" sz="950" dirty="0"/>
          </a:p>
        </p:txBody>
      </p:sp>
      <p:sp>
        <p:nvSpPr>
          <p:cNvPr id="20" name="Shape 18"/>
          <p:cNvSpPr/>
          <p:nvPr/>
        </p:nvSpPr>
        <p:spPr>
          <a:xfrm>
            <a:off x="4754880" y="3044952"/>
            <a:ext cx="4206240" cy="1920240"/>
          </a:xfrm>
          <a:prstGeom prst="rect">
            <a:avLst/>
          </a:prstGeom>
          <a:solidFill>
            <a:srgbClr val="1E293B"/>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21" name="Shape 19"/>
          <p:cNvSpPr/>
          <p:nvPr/>
        </p:nvSpPr>
        <p:spPr>
          <a:xfrm>
            <a:off x="4892040" y="3154680"/>
            <a:ext cx="2331720" cy="1261872"/>
          </a:xfrm>
          <a:prstGeom prst="roundRect">
            <a:avLst>
              <a:gd name="adj" fmla="val 2899"/>
            </a:avLst>
          </a:prstGeom>
          <a:solidFill>
            <a:srgbClr val="0D1526"/>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22" name="Text 20"/>
          <p:cNvSpPr/>
          <p:nvPr/>
        </p:nvSpPr>
        <p:spPr>
          <a:xfrm>
            <a:off x="4892040" y="3154680"/>
            <a:ext cx="2331720" cy="1261872"/>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  Screenshot  ]</a:t>
            </a:r>
            <a:endParaRPr lang="en-US" sz="1100" dirty="0"/>
          </a:p>
        </p:txBody>
      </p:sp>
      <p:sp>
        <p:nvSpPr>
          <p:cNvPr id="23" name="Text 21"/>
          <p:cNvSpPr/>
          <p:nvPr/>
        </p:nvSpPr>
        <p:spPr>
          <a:xfrm>
            <a:off x="7333488" y="3136392"/>
            <a:ext cx="1481328" cy="438912"/>
          </a:xfrm>
          <a:prstGeom prst="rect">
            <a:avLst/>
          </a:prstGeom>
          <a:noFill/>
          <a:ln/>
        </p:spPr>
        <p:txBody>
          <a:bodyPr wrap="square" rtlCol="0" anchor="t"/>
          <a:lstStyle/>
          <a:p>
            <a:pPr indent="0" marL="0">
              <a:buNone/>
            </a:pPr>
            <a:r>
              <a:rPr lang="en-US" sz="1100" b="1" dirty="0">
                <a:solidFill>
                  <a:srgbClr val="10B981"/>
                </a:solidFill>
                <a:latin typeface="Calibri" pitchFamily="34" charset="0"/>
                <a:ea typeface="Calibri" pitchFamily="34" charset="-122"/>
                <a:cs typeface="Calibri" pitchFamily="34" charset="-120"/>
              </a:rPr>
              <a:t>Phase 4 — Comparison</a:t>
            </a:r>
            <a:endParaRPr lang="en-US" sz="1100" dirty="0"/>
          </a:p>
        </p:txBody>
      </p:sp>
      <p:sp>
        <p:nvSpPr>
          <p:cNvPr id="24" name="Text 22"/>
          <p:cNvSpPr/>
          <p:nvPr/>
        </p:nvSpPr>
        <p:spPr>
          <a:xfrm>
            <a:off x="7333488" y="3593592"/>
            <a:ext cx="1481328" cy="1261872"/>
          </a:xfrm>
          <a:prstGeom prst="rect">
            <a:avLst/>
          </a:prstGeom>
          <a:noFill/>
          <a:ln/>
        </p:spPr>
        <p:txBody>
          <a:bodyPr wrap="square" rtlCol="0" anchor="t"/>
          <a:lstStyle/>
          <a:p>
            <a:pPr indent="0" marL="0">
              <a:buNone/>
            </a:pPr>
            <a:r>
              <a:rPr lang="en-US" sz="950" dirty="0">
                <a:solidFill>
                  <a:srgbClr val="CBD5E1"/>
                </a:solidFill>
                <a:latin typeface="Calibri" pitchFamily="34" charset="0"/>
                <a:ea typeface="Calibri" pitchFamily="34" charset="-122"/>
                <a:cs typeface="Calibri" pitchFamily="34" charset="-120"/>
              </a:rPr>
              <a:t>Score table (0–100 per technique). Bar charts for score vs. overhead. Best technique highlighted with a crown badge.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Results &amp; Analysis</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Results &amp; Analysis</a:t>
            </a:r>
            <a:endParaRPr lang="en-US" sz="2800" dirty="0"/>
          </a:p>
        </p:txBody>
      </p:sp>
      <p:graphicFrame>
        <p:nvGraphicFramePr>
          <p:cNvPr id="5" name="Chart 0" descr=""/>
          <p:cNvGraphicFramePr/>
          <p:nvPr/>
        </p:nvGraphicFramePr>
        <p:xfrm>
          <a:off x="347472" y="896112"/>
          <a:ext cx="5303520" cy="3913632"/>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52160" y="914400"/>
            <a:ext cx="2944368" cy="1207008"/>
          </a:xfrm>
          <a:prstGeom prst="rect">
            <a:avLst/>
          </a:prstGeom>
          <a:solidFill>
            <a:srgbClr val="1E293B"/>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7" name="Text 4"/>
          <p:cNvSpPr/>
          <p:nvPr/>
        </p:nvSpPr>
        <p:spPr>
          <a:xfrm>
            <a:off x="5998464" y="1005840"/>
            <a:ext cx="2651760" cy="384048"/>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Blocking &gt; Busy-Wait</a:t>
            </a:r>
            <a:endParaRPr lang="en-US" sz="1200" dirty="0"/>
          </a:p>
        </p:txBody>
      </p:sp>
      <p:sp>
        <p:nvSpPr>
          <p:cNvPr id="8" name="Text 5"/>
          <p:cNvSpPr/>
          <p:nvPr/>
        </p:nvSpPr>
        <p:spPr>
          <a:xfrm>
            <a:off x="5998464" y="1408176"/>
            <a:ext cx="2651760" cy="640080"/>
          </a:xfrm>
          <a:prstGeom prst="rect">
            <a:avLst/>
          </a:prstGeom>
          <a:noFill/>
          <a:ln/>
        </p:spPr>
        <p:txBody>
          <a:bodyPr wrap="square" rtlCol="0" anchor="t"/>
          <a:lstStyle/>
          <a:p>
            <a:pPr indent="0" marL="0">
              <a:buNone/>
            </a:pPr>
            <a:r>
              <a:rPr lang="en-US" sz="1000" dirty="0">
                <a:solidFill>
                  <a:srgbClr val="CBD5E1"/>
                </a:solidFill>
                <a:latin typeface="Calibri" pitchFamily="34" charset="0"/>
                <a:ea typeface="Calibri" pitchFamily="34" charset="-122"/>
                <a:cs typeface="Calibri" pitchFamily="34" charset="-120"/>
              </a:rPr>
              <a:t>Mutex and Monitor rank highest. They block waiting processes so the CPU is free for others — no spinning.</a:t>
            </a:r>
            <a:endParaRPr lang="en-US" sz="1000" dirty="0"/>
          </a:p>
        </p:txBody>
      </p:sp>
      <p:sp>
        <p:nvSpPr>
          <p:cNvPr id="9" name="Shape 6"/>
          <p:cNvSpPr/>
          <p:nvPr/>
        </p:nvSpPr>
        <p:spPr>
          <a:xfrm>
            <a:off x="5852160" y="2212848"/>
            <a:ext cx="2944368" cy="1207008"/>
          </a:xfrm>
          <a:prstGeom prst="rect">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0" name="Text 7"/>
          <p:cNvSpPr/>
          <p:nvPr/>
        </p:nvSpPr>
        <p:spPr>
          <a:xfrm>
            <a:off x="5998464" y="2304288"/>
            <a:ext cx="2651760" cy="384048"/>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Software Algorithms Limited</a:t>
            </a:r>
            <a:endParaRPr lang="en-US" sz="1200" dirty="0"/>
          </a:p>
        </p:txBody>
      </p:sp>
      <p:sp>
        <p:nvSpPr>
          <p:cNvPr id="11" name="Text 8"/>
          <p:cNvSpPr/>
          <p:nvPr/>
        </p:nvSpPr>
        <p:spPr>
          <a:xfrm>
            <a:off x="5998464" y="2706624"/>
            <a:ext cx="2651760" cy="640080"/>
          </a:xfrm>
          <a:prstGeom prst="rect">
            <a:avLst/>
          </a:prstGeom>
          <a:noFill/>
          <a:ln/>
        </p:spPr>
        <p:txBody>
          <a:bodyPr wrap="square" rtlCol="0" anchor="t"/>
          <a:lstStyle/>
          <a:p>
            <a:pPr indent="0" marL="0">
              <a:buNone/>
            </a:pPr>
            <a:r>
              <a:rPr lang="en-US" sz="1000" dirty="0">
                <a:solidFill>
                  <a:srgbClr val="CBD5E1"/>
                </a:solidFill>
                <a:latin typeface="Calibri" pitchFamily="34" charset="0"/>
                <a:ea typeface="Calibri" pitchFamily="34" charset="-122"/>
                <a:cs typeface="Calibri" pitchFamily="34" charset="-120"/>
              </a:rPr>
              <a:t>Peterson and Dekker score lower due to busy-waiting. Both work correctly but waste CPU cycles.</a:t>
            </a:r>
            <a:endParaRPr lang="en-US" sz="1000" dirty="0"/>
          </a:p>
        </p:txBody>
      </p:sp>
      <p:sp>
        <p:nvSpPr>
          <p:cNvPr id="12" name="Shape 9"/>
          <p:cNvSpPr/>
          <p:nvPr/>
        </p:nvSpPr>
        <p:spPr>
          <a:xfrm>
            <a:off x="5852160" y="3511296"/>
            <a:ext cx="2944368" cy="1207008"/>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3" name="Text 10"/>
          <p:cNvSpPr/>
          <p:nvPr/>
        </p:nvSpPr>
        <p:spPr>
          <a:xfrm>
            <a:off x="5998464" y="3602736"/>
            <a:ext cx="2651760" cy="384048"/>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Scoring from Real Data</a:t>
            </a:r>
            <a:endParaRPr lang="en-US" sz="1200" dirty="0"/>
          </a:p>
        </p:txBody>
      </p:sp>
      <p:sp>
        <p:nvSpPr>
          <p:cNvPr id="14" name="Text 11"/>
          <p:cNvSpPr/>
          <p:nvPr/>
        </p:nvSpPr>
        <p:spPr>
          <a:xfrm>
            <a:off x="5998464" y="4005072"/>
            <a:ext cx="2651760" cy="640080"/>
          </a:xfrm>
          <a:prstGeom prst="rect">
            <a:avLst/>
          </a:prstGeom>
          <a:noFill/>
          <a:ln/>
        </p:spPr>
        <p:txBody>
          <a:bodyPr wrap="square" rtlCol="0" anchor="t"/>
          <a:lstStyle/>
          <a:p>
            <a:pPr indent="0" marL="0">
              <a:buNone/>
            </a:pPr>
            <a:r>
              <a:rPr lang="en-US" sz="1000" dirty="0">
                <a:solidFill>
                  <a:srgbClr val="CBD5E1"/>
                </a:solidFill>
                <a:latin typeface="Calibri" pitchFamily="34" charset="0"/>
                <a:ea typeface="Calibri" pitchFamily="34" charset="-122"/>
                <a:cs typeface="Calibri" pitchFamily="34" charset="-120"/>
              </a:rPr>
              <a:t>Scores computed from actual simulation steps, not hardcoded. Mutual exclusion = 50 pts, deadlock-free = 30, correctness = 20.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Challenges Faced &amp; Solutions</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Challenges Faced &amp; Solutions</a:t>
            </a:r>
            <a:endParaRPr lang="en-US" sz="2800" dirty="0"/>
          </a:p>
        </p:txBody>
      </p:sp>
      <p:sp>
        <p:nvSpPr>
          <p:cNvPr id="5" name="Shape 3"/>
          <p:cNvSpPr/>
          <p:nvPr/>
        </p:nvSpPr>
        <p:spPr>
          <a:xfrm>
            <a:off x="347472" y="960120"/>
            <a:ext cx="4206240" cy="1901952"/>
          </a:xfrm>
          <a:prstGeom prst="rect">
            <a:avLst/>
          </a:prstGeom>
          <a:solidFill>
            <a:srgbClr val="1E293B"/>
          </a:solidFill>
          <a:ln w="19050">
            <a:solidFill>
              <a:srgbClr val="EF4444"/>
            </a:solidFill>
            <a:prstDash val="solid"/>
          </a:ln>
          <a:effectLst>
            <a:outerShdw sx="100000" sy="100000" kx="0" ky="0" algn="bl" rotWithShape="0" blurRad="101600" dist="25400" dir="8100000">
              <a:srgbClr val="000000">
                <a:alpha val="28000"/>
              </a:srgbClr>
            </a:outerShdw>
          </a:effectLst>
        </p:spPr>
      </p:sp>
      <p:sp>
        <p:nvSpPr>
          <p:cNvPr id="6" name="Shape 4"/>
          <p:cNvSpPr/>
          <p:nvPr/>
        </p:nvSpPr>
        <p:spPr>
          <a:xfrm>
            <a:off x="512064" y="1115568"/>
            <a:ext cx="384048" cy="384048"/>
          </a:xfrm>
          <a:prstGeom prst="ellipse">
            <a:avLst/>
          </a:prstGeom>
          <a:solidFill>
            <a:srgbClr val="EF4444"/>
          </a:solidFill>
          <a:ln w="12700">
            <a:solidFill>
              <a:srgbClr val="EF4444"/>
            </a:solidFill>
            <a:prstDash val="solid"/>
          </a:ln>
        </p:spPr>
      </p:sp>
      <p:sp>
        <p:nvSpPr>
          <p:cNvPr id="7" name="Text 5"/>
          <p:cNvSpPr/>
          <p:nvPr/>
        </p:nvSpPr>
        <p:spPr>
          <a:xfrm>
            <a:off x="512064" y="111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33272" y="1033272"/>
            <a:ext cx="329184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Deep Copy Bug</a:t>
            </a:r>
            <a:endParaRPr lang="en-US" sz="1300" dirty="0"/>
          </a:p>
        </p:txBody>
      </p:sp>
      <p:sp>
        <p:nvSpPr>
          <p:cNvPr id="9" name="Shape 7"/>
          <p:cNvSpPr/>
          <p:nvPr/>
        </p:nvSpPr>
        <p:spPr>
          <a:xfrm>
            <a:off x="1033272" y="1435608"/>
            <a:ext cx="1280160" cy="201168"/>
          </a:xfrm>
          <a:prstGeom prst="roundRect">
            <a:avLst>
              <a:gd name="adj" fmla="val 18182"/>
            </a:avLst>
          </a:prstGeom>
          <a:solidFill>
            <a:srgbClr val="EF4444"/>
          </a:solidFill>
          <a:ln w="19050">
            <a:solidFill>
              <a:srgbClr val="EF4444"/>
            </a:solidFill>
            <a:prstDash val="solid"/>
          </a:ln>
          <a:effectLst>
            <a:outerShdw sx="100000" sy="100000" kx="0" ky="0" algn="bl" rotWithShape="0" blurRad="101600" dist="25400" dir="8100000">
              <a:srgbClr val="000000">
                <a:alpha val="28000"/>
              </a:srgbClr>
            </a:outerShdw>
          </a:effectLst>
        </p:spPr>
      </p:sp>
      <p:sp>
        <p:nvSpPr>
          <p:cNvPr id="10" name="Text 8"/>
          <p:cNvSpPr/>
          <p:nvPr/>
        </p:nvSpPr>
        <p:spPr>
          <a:xfrm>
            <a:off x="1033272" y="1435608"/>
            <a:ext cx="1280160" cy="201168"/>
          </a:xfrm>
          <a:prstGeom prst="rect">
            <a:avLst/>
          </a:prstGeom>
          <a:noFill/>
          <a:ln/>
        </p:spPr>
        <p:txBody>
          <a:bodyPr wrap="square" lIns="0" tIns="0" rIns="0" bIns="0" rtlCol="0" anchor="ctr"/>
          <a:lstStyle/>
          <a:p>
            <a:pPr algn="ctr" indent="0" marL="0">
              <a:buNone/>
            </a:pPr>
            <a:r>
              <a:rPr lang="en-US" sz="850" b="1" dirty="0">
                <a:solidFill>
                  <a:srgbClr val="0F172A"/>
                </a:solidFill>
                <a:latin typeface="Calibri" pitchFamily="34" charset="0"/>
                <a:ea typeface="Calibri" pitchFamily="34" charset="-122"/>
                <a:cs typeface="Calibri" pitchFamily="34" charset="-120"/>
              </a:rPr>
              <a:t>Correctness Fix</a:t>
            </a:r>
            <a:endParaRPr lang="en-US" sz="850" dirty="0"/>
          </a:p>
        </p:txBody>
      </p:sp>
      <p:sp>
        <p:nvSpPr>
          <p:cNvPr id="11" name="Text 9"/>
          <p:cNvSpPr/>
          <p:nvPr/>
        </p:nvSpPr>
        <p:spPr>
          <a:xfrm>
            <a:off x="512064" y="1673352"/>
            <a:ext cx="3858768" cy="530352"/>
          </a:xfrm>
          <a:prstGeom prst="rect">
            <a:avLst/>
          </a:prstGeom>
          <a:noFill/>
          <a:ln/>
        </p:spPr>
        <p:txBody>
          <a:bodyPr wrap="square" rtlCol="0" anchor="t"/>
          <a:lstStyle/>
          <a:p>
            <a:pPr indent="0" marL="0">
              <a:buNone/>
            </a:pPr>
            <a:r>
              <a:rPr lang="en-US" sz="950" dirty="0">
                <a:solidFill>
                  <a:srgbClr val="94A3B8"/>
                </a:solidFill>
                <a:latin typeface="Calibri" pitchFamily="34" charset="0"/>
                <a:ea typeface="Calibri" pitchFamily="34" charset="-122"/>
                <a:cs typeface="Calibri" pitchFamily="34" charset="-120"/>
              </a:rPr>
              <a:t>Issue:  All simulation steps showed the same (final) state regardless of which step was selected.</a:t>
            </a:r>
            <a:endParaRPr lang="en-US" sz="950" dirty="0"/>
          </a:p>
        </p:txBody>
      </p:sp>
      <p:sp>
        <p:nvSpPr>
          <p:cNvPr id="12" name="Text 10"/>
          <p:cNvSpPr/>
          <p:nvPr/>
        </p:nvSpPr>
        <p:spPr>
          <a:xfrm>
            <a:off x="512064" y="2221992"/>
            <a:ext cx="3858768" cy="548640"/>
          </a:xfrm>
          <a:prstGeom prst="rect">
            <a:avLst/>
          </a:prstGeom>
          <a:noFill/>
          <a:ln/>
        </p:spPr>
        <p:txBody>
          <a:bodyPr wrap="square" rtlCol="0" anchor="t"/>
          <a:lstStyle/>
          <a:p>
            <a:pPr indent="0" marL="0">
              <a:buNone/>
            </a:pPr>
            <a:r>
              <a:rPr lang="en-US" sz="950" dirty="0">
                <a:solidFill>
                  <a:srgbClr val="CBD5E1"/>
                </a:solidFill>
                <a:latin typeface="Calibri" pitchFamily="34" charset="0"/>
                <a:ea typeface="Calibri" pitchFamily="34" charset="-122"/>
                <a:cs typeface="Calibri" pitchFamily="34" charset="-120"/>
              </a:rPr>
              <a:t>Fix:  Added Python deepcopy() to every mutable field in _step(). Algorithm methods mutate live objects — snapshots must be independent copies.</a:t>
            </a:r>
            <a:endParaRPr lang="en-US" sz="950" dirty="0"/>
          </a:p>
        </p:txBody>
      </p:sp>
      <p:sp>
        <p:nvSpPr>
          <p:cNvPr id="13" name="Shape 11"/>
          <p:cNvSpPr/>
          <p:nvPr/>
        </p:nvSpPr>
        <p:spPr>
          <a:xfrm>
            <a:off x="4754880" y="960120"/>
            <a:ext cx="4206240" cy="1901952"/>
          </a:xfrm>
          <a:prstGeom prst="rect">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4" name="Shape 12"/>
          <p:cNvSpPr/>
          <p:nvPr/>
        </p:nvSpPr>
        <p:spPr>
          <a:xfrm>
            <a:off x="4919472" y="1115568"/>
            <a:ext cx="384048" cy="384048"/>
          </a:xfrm>
          <a:prstGeom prst="ellipse">
            <a:avLst/>
          </a:prstGeom>
          <a:solidFill>
            <a:srgbClr val="F59E0B"/>
          </a:solidFill>
          <a:ln w="12700">
            <a:solidFill>
              <a:srgbClr val="F59E0B"/>
            </a:solidFill>
            <a:prstDash val="solid"/>
          </a:ln>
        </p:spPr>
      </p:sp>
      <p:sp>
        <p:nvSpPr>
          <p:cNvPr id="15" name="Text 13"/>
          <p:cNvSpPr/>
          <p:nvPr/>
        </p:nvSpPr>
        <p:spPr>
          <a:xfrm>
            <a:off x="4919472" y="111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5440680" y="1033272"/>
            <a:ext cx="329184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Canvas Height Mismatch</a:t>
            </a:r>
            <a:endParaRPr lang="en-US" sz="1300" dirty="0"/>
          </a:p>
        </p:txBody>
      </p:sp>
      <p:sp>
        <p:nvSpPr>
          <p:cNvPr id="17" name="Shape 15"/>
          <p:cNvSpPr/>
          <p:nvPr/>
        </p:nvSpPr>
        <p:spPr>
          <a:xfrm>
            <a:off x="5440680" y="1435608"/>
            <a:ext cx="1280160" cy="201168"/>
          </a:xfrm>
          <a:prstGeom prst="roundRect">
            <a:avLst>
              <a:gd name="adj" fmla="val 18182"/>
            </a:avLst>
          </a:prstGeom>
          <a:solidFill>
            <a:srgbClr val="F59E0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8" name="Text 16"/>
          <p:cNvSpPr/>
          <p:nvPr/>
        </p:nvSpPr>
        <p:spPr>
          <a:xfrm>
            <a:off x="5440680" y="1435608"/>
            <a:ext cx="1280160" cy="201168"/>
          </a:xfrm>
          <a:prstGeom prst="rect">
            <a:avLst/>
          </a:prstGeom>
          <a:noFill/>
          <a:ln/>
        </p:spPr>
        <p:txBody>
          <a:bodyPr wrap="square" lIns="0" tIns="0" rIns="0" bIns="0" rtlCol="0" anchor="ctr"/>
          <a:lstStyle/>
          <a:p>
            <a:pPr algn="ctr" indent="0" marL="0">
              <a:buNone/>
            </a:pPr>
            <a:r>
              <a:rPr lang="en-US" sz="850" b="1" dirty="0">
                <a:solidFill>
                  <a:srgbClr val="0F172A"/>
                </a:solidFill>
                <a:latin typeface="Calibri" pitchFamily="34" charset="0"/>
                <a:ea typeface="Calibri" pitchFamily="34" charset="-122"/>
                <a:cs typeface="Calibri" pitchFamily="34" charset="-120"/>
              </a:rPr>
              <a:t>Layout Fix</a:t>
            </a:r>
            <a:endParaRPr lang="en-US" sz="850" dirty="0"/>
          </a:p>
        </p:txBody>
      </p:sp>
      <p:sp>
        <p:nvSpPr>
          <p:cNvPr id="19" name="Text 17"/>
          <p:cNvSpPr/>
          <p:nvPr/>
        </p:nvSpPr>
        <p:spPr>
          <a:xfrm>
            <a:off x="4919472" y="1673352"/>
            <a:ext cx="3858768" cy="530352"/>
          </a:xfrm>
          <a:prstGeom prst="rect">
            <a:avLst/>
          </a:prstGeom>
          <a:noFill/>
          <a:ln/>
        </p:spPr>
        <p:txBody>
          <a:bodyPr wrap="square" rtlCol="0" anchor="t"/>
          <a:lstStyle/>
          <a:p>
            <a:pPr indent="0" marL="0">
              <a:buNone/>
            </a:pPr>
            <a:r>
              <a:rPr lang="en-US" sz="950" dirty="0">
                <a:solidFill>
                  <a:srgbClr val="94A3B8"/>
                </a:solidFill>
                <a:latin typeface="Calibri" pitchFamily="34" charset="0"/>
                <a:ea typeface="Calibri" pitchFamily="34" charset="-122"/>
                <a:cs typeface="Calibri" pitchFamily="34" charset="-120"/>
              </a:rPr>
              <a:t>Issue:  The canvas was short (260px) and the rest of the shared resource box area showed as an empty dark background.</a:t>
            </a:r>
            <a:endParaRPr lang="en-US" sz="950" dirty="0"/>
          </a:p>
        </p:txBody>
      </p:sp>
      <p:sp>
        <p:nvSpPr>
          <p:cNvPr id="20" name="Text 18"/>
          <p:cNvSpPr/>
          <p:nvPr/>
        </p:nvSpPr>
        <p:spPr>
          <a:xfrm>
            <a:off x="4919472" y="2221992"/>
            <a:ext cx="3858768" cy="548640"/>
          </a:xfrm>
          <a:prstGeom prst="rect">
            <a:avLst/>
          </a:prstGeom>
          <a:noFill/>
          <a:ln/>
        </p:spPr>
        <p:txBody>
          <a:bodyPr wrap="square" rtlCol="0" anchor="t"/>
          <a:lstStyle/>
          <a:p>
            <a:pPr indent="0" marL="0">
              <a:buNone/>
            </a:pPr>
            <a:r>
              <a:rPr lang="en-US" sz="950" dirty="0">
                <a:solidFill>
                  <a:srgbClr val="CBD5E1"/>
                </a:solidFill>
                <a:latin typeface="Calibri" pitchFamily="34" charset="0"/>
                <a:ea typeface="Calibri" pitchFamily="34" charset="-122"/>
                <a:cs typeface="Calibri" pitchFamily="34" charset="-120"/>
              </a:rPr>
              <a:t>Fix:  Used ResizeObserver on both the canvas wrap and the side panel. When the side panel grew after data loaded, the observer fired _resize() to match the buffer height.</a:t>
            </a:r>
            <a:endParaRPr lang="en-US" sz="950" dirty="0"/>
          </a:p>
        </p:txBody>
      </p:sp>
      <p:sp>
        <p:nvSpPr>
          <p:cNvPr id="21" name="Shape 19"/>
          <p:cNvSpPr/>
          <p:nvPr/>
        </p:nvSpPr>
        <p:spPr>
          <a:xfrm>
            <a:off x="347472" y="2990088"/>
            <a:ext cx="4206240" cy="1901952"/>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22" name="Shape 20"/>
          <p:cNvSpPr/>
          <p:nvPr/>
        </p:nvSpPr>
        <p:spPr>
          <a:xfrm>
            <a:off x="512064" y="3145536"/>
            <a:ext cx="384048" cy="384048"/>
          </a:xfrm>
          <a:prstGeom prst="ellipse">
            <a:avLst/>
          </a:prstGeom>
          <a:solidFill>
            <a:srgbClr val="06B6D4"/>
          </a:solidFill>
          <a:ln w="12700">
            <a:solidFill>
              <a:srgbClr val="06B6D4"/>
            </a:solidFill>
            <a:prstDash val="solid"/>
          </a:ln>
        </p:spPr>
      </p:sp>
      <p:sp>
        <p:nvSpPr>
          <p:cNvPr id="23" name="Text 21"/>
          <p:cNvSpPr/>
          <p:nvPr/>
        </p:nvSpPr>
        <p:spPr>
          <a:xfrm>
            <a:off x="512064" y="31455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2"/>
          <p:cNvSpPr/>
          <p:nvPr/>
        </p:nvSpPr>
        <p:spPr>
          <a:xfrm>
            <a:off x="1033272" y="3063240"/>
            <a:ext cx="329184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Waiting Queue Invisible</a:t>
            </a:r>
            <a:endParaRPr lang="en-US" sz="1300" dirty="0"/>
          </a:p>
        </p:txBody>
      </p:sp>
      <p:sp>
        <p:nvSpPr>
          <p:cNvPr id="25" name="Shape 23"/>
          <p:cNvSpPr/>
          <p:nvPr/>
        </p:nvSpPr>
        <p:spPr>
          <a:xfrm>
            <a:off x="1033272" y="3465576"/>
            <a:ext cx="1280160" cy="201168"/>
          </a:xfrm>
          <a:prstGeom prst="roundRect">
            <a:avLst>
              <a:gd name="adj" fmla="val 18182"/>
            </a:avLst>
          </a:prstGeom>
          <a:solidFill>
            <a:srgbClr val="06B6D4"/>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26" name="Text 24"/>
          <p:cNvSpPr/>
          <p:nvPr/>
        </p:nvSpPr>
        <p:spPr>
          <a:xfrm>
            <a:off x="1033272" y="3465576"/>
            <a:ext cx="1280160" cy="201168"/>
          </a:xfrm>
          <a:prstGeom prst="rect">
            <a:avLst/>
          </a:prstGeom>
          <a:noFill/>
          <a:ln/>
        </p:spPr>
        <p:txBody>
          <a:bodyPr wrap="square" lIns="0" tIns="0" rIns="0" bIns="0" rtlCol="0" anchor="ctr"/>
          <a:lstStyle/>
          <a:p>
            <a:pPr algn="ctr" indent="0" marL="0">
              <a:buNone/>
            </a:pPr>
            <a:r>
              <a:rPr lang="en-US" sz="850" b="1" dirty="0">
                <a:solidFill>
                  <a:srgbClr val="0F172A"/>
                </a:solidFill>
                <a:latin typeface="Calibri" pitchFamily="34" charset="0"/>
                <a:ea typeface="Calibri" pitchFamily="34" charset="-122"/>
                <a:cs typeface="Calibri" pitchFamily="34" charset="-120"/>
              </a:rPr>
              <a:t>CSS Fix</a:t>
            </a:r>
            <a:endParaRPr lang="en-US" sz="850" dirty="0"/>
          </a:p>
        </p:txBody>
      </p:sp>
      <p:sp>
        <p:nvSpPr>
          <p:cNvPr id="27" name="Text 25"/>
          <p:cNvSpPr/>
          <p:nvPr/>
        </p:nvSpPr>
        <p:spPr>
          <a:xfrm>
            <a:off x="512064" y="3703320"/>
            <a:ext cx="3858768" cy="530352"/>
          </a:xfrm>
          <a:prstGeom prst="rect">
            <a:avLst/>
          </a:prstGeom>
          <a:noFill/>
          <a:ln/>
        </p:spPr>
        <p:txBody>
          <a:bodyPr wrap="square" rtlCol="0" anchor="t"/>
          <a:lstStyle/>
          <a:p>
            <a:pPr indent="0" marL="0">
              <a:buNone/>
            </a:pPr>
            <a:r>
              <a:rPr lang="en-US" sz="950" dirty="0">
                <a:solidFill>
                  <a:srgbClr val="94A3B8"/>
                </a:solidFill>
                <a:latin typeface="Calibri" pitchFamily="34" charset="0"/>
                <a:ea typeface="Calibri" pitchFamily="34" charset="-122"/>
                <a:cs typeface="Calibri" pitchFamily="34" charset="-120"/>
              </a:rPr>
              <a:t>Issue:  The waiting queue section never showed processes even though backend confirmed data was correct.</a:t>
            </a:r>
            <a:endParaRPr lang="en-US" sz="950" dirty="0"/>
          </a:p>
        </p:txBody>
      </p:sp>
      <p:sp>
        <p:nvSpPr>
          <p:cNvPr id="28" name="Text 26"/>
          <p:cNvSpPr/>
          <p:nvPr/>
        </p:nvSpPr>
        <p:spPr>
          <a:xfrm>
            <a:off x="512064" y="4251960"/>
            <a:ext cx="3858768" cy="548640"/>
          </a:xfrm>
          <a:prstGeom prst="rect">
            <a:avLst/>
          </a:prstGeom>
          <a:noFill/>
          <a:ln/>
        </p:spPr>
        <p:txBody>
          <a:bodyPr wrap="square" rtlCol="0" anchor="t"/>
          <a:lstStyle/>
          <a:p>
            <a:pPr indent="0" marL="0">
              <a:buNone/>
            </a:pPr>
            <a:r>
              <a:rPr lang="en-US" sz="950" dirty="0">
                <a:solidFill>
                  <a:srgbClr val="CBD5E1"/>
                </a:solidFill>
                <a:latin typeface="Calibri" pitchFamily="34" charset="0"/>
                <a:ea typeface="Calibri" pitchFamily="34" charset="-122"/>
                <a:cs typeface="Calibri" pitchFamily="34" charset="-120"/>
              </a:rPr>
              <a:t>Fix:  CSS max-height: 260px on .sync-side-panel clipped all content past the first two sections. Removing the constraint exposed all five side panel sections.</a:t>
            </a:r>
            <a:endParaRPr lang="en-US" sz="950" dirty="0"/>
          </a:p>
        </p:txBody>
      </p:sp>
      <p:sp>
        <p:nvSpPr>
          <p:cNvPr id="29" name="Shape 27"/>
          <p:cNvSpPr/>
          <p:nvPr/>
        </p:nvSpPr>
        <p:spPr>
          <a:xfrm>
            <a:off x="4754880" y="2990088"/>
            <a:ext cx="4206240" cy="1901952"/>
          </a:xfrm>
          <a:prstGeom prst="rect">
            <a:avLst/>
          </a:prstGeom>
          <a:solidFill>
            <a:srgbClr val="1E293B"/>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30" name="Shape 28"/>
          <p:cNvSpPr/>
          <p:nvPr/>
        </p:nvSpPr>
        <p:spPr>
          <a:xfrm>
            <a:off x="4919472" y="3145536"/>
            <a:ext cx="384048" cy="384048"/>
          </a:xfrm>
          <a:prstGeom prst="ellipse">
            <a:avLst/>
          </a:prstGeom>
          <a:solidFill>
            <a:srgbClr val="10B981"/>
          </a:solidFill>
          <a:ln w="12700">
            <a:solidFill>
              <a:srgbClr val="10B981"/>
            </a:solidFill>
            <a:prstDash val="solid"/>
          </a:ln>
        </p:spPr>
      </p:sp>
      <p:sp>
        <p:nvSpPr>
          <p:cNvPr id="31" name="Text 29"/>
          <p:cNvSpPr/>
          <p:nvPr/>
        </p:nvSpPr>
        <p:spPr>
          <a:xfrm>
            <a:off x="4919472" y="31455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Text 30"/>
          <p:cNvSpPr/>
          <p:nvPr/>
        </p:nvSpPr>
        <p:spPr>
          <a:xfrm>
            <a:off x="5440680" y="3063240"/>
            <a:ext cx="329184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Schedule ↔ Sync Weaving</a:t>
            </a:r>
            <a:endParaRPr lang="en-US" sz="1300" dirty="0"/>
          </a:p>
        </p:txBody>
      </p:sp>
      <p:sp>
        <p:nvSpPr>
          <p:cNvPr id="33" name="Shape 31"/>
          <p:cNvSpPr/>
          <p:nvPr/>
        </p:nvSpPr>
        <p:spPr>
          <a:xfrm>
            <a:off x="5440680" y="3465576"/>
            <a:ext cx="1280160" cy="201168"/>
          </a:xfrm>
          <a:prstGeom prst="roundRect">
            <a:avLst>
              <a:gd name="adj" fmla="val 18182"/>
            </a:avLst>
          </a:prstGeom>
          <a:solidFill>
            <a:srgbClr val="10B981"/>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34" name="Text 32"/>
          <p:cNvSpPr/>
          <p:nvPr/>
        </p:nvSpPr>
        <p:spPr>
          <a:xfrm>
            <a:off x="5440680" y="3465576"/>
            <a:ext cx="1280160" cy="201168"/>
          </a:xfrm>
          <a:prstGeom prst="rect">
            <a:avLst/>
          </a:prstGeom>
          <a:noFill/>
          <a:ln/>
        </p:spPr>
        <p:txBody>
          <a:bodyPr wrap="square" lIns="0" tIns="0" rIns="0" bIns="0" rtlCol="0" anchor="ctr"/>
          <a:lstStyle/>
          <a:p>
            <a:pPr algn="ctr" indent="0" marL="0">
              <a:buNone/>
            </a:pPr>
            <a:r>
              <a:rPr lang="en-US" sz="850" b="1" dirty="0">
                <a:solidFill>
                  <a:srgbClr val="0F172A"/>
                </a:solidFill>
                <a:latin typeface="Calibri" pitchFamily="34" charset="0"/>
                <a:ea typeface="Calibri" pitchFamily="34" charset="-122"/>
                <a:cs typeface="Calibri" pitchFamily="34" charset="-120"/>
              </a:rPr>
              <a:t>Logic Fix</a:t>
            </a:r>
            <a:endParaRPr lang="en-US" sz="850" dirty="0"/>
          </a:p>
        </p:txBody>
      </p:sp>
      <p:sp>
        <p:nvSpPr>
          <p:cNvPr id="35" name="Text 33"/>
          <p:cNvSpPr/>
          <p:nvPr/>
        </p:nvSpPr>
        <p:spPr>
          <a:xfrm>
            <a:off x="4919472" y="3703320"/>
            <a:ext cx="3858768" cy="530352"/>
          </a:xfrm>
          <a:prstGeom prst="rect">
            <a:avLst/>
          </a:prstGeom>
          <a:noFill/>
          <a:ln/>
        </p:spPr>
        <p:txBody>
          <a:bodyPr wrap="square" rtlCol="0" anchor="t"/>
          <a:lstStyle/>
          <a:p>
            <a:pPr indent="0" marL="0">
              <a:buNone/>
            </a:pPr>
            <a:r>
              <a:rPr lang="en-US" sz="950" dirty="0">
                <a:solidFill>
                  <a:srgbClr val="94A3B8"/>
                </a:solidFill>
                <a:latin typeface="Calibri" pitchFamily="34" charset="0"/>
                <a:ea typeface="Calibri" pitchFamily="34" charset="-122"/>
                <a:cs typeface="Calibri" pitchFamily="34" charset="-120"/>
              </a:rPr>
              <a:t>Issue:  CPU Gantt chart and sync events are generated independently with different PID naming conventions.</a:t>
            </a:r>
            <a:endParaRPr lang="en-US" sz="950" dirty="0"/>
          </a:p>
        </p:txBody>
      </p:sp>
      <p:sp>
        <p:nvSpPr>
          <p:cNvPr id="36" name="Text 34"/>
          <p:cNvSpPr/>
          <p:nvPr/>
        </p:nvSpPr>
        <p:spPr>
          <a:xfrm>
            <a:off x="4919472" y="4251960"/>
            <a:ext cx="3858768" cy="548640"/>
          </a:xfrm>
          <a:prstGeom prst="rect">
            <a:avLst/>
          </a:prstGeom>
          <a:noFill/>
          <a:ln/>
        </p:spPr>
        <p:txBody>
          <a:bodyPr wrap="square" rtlCol="0" anchor="t"/>
          <a:lstStyle/>
          <a:p>
            <a:pPr indent="0" marL="0">
              <a:buNone/>
            </a:pPr>
            <a:r>
              <a:rPr lang="en-US" sz="950" dirty="0">
                <a:solidFill>
                  <a:srgbClr val="CBD5E1"/>
                </a:solidFill>
                <a:latin typeface="Calibri" pitchFamily="34" charset="0"/>
                <a:ea typeface="Calibri" pitchFamily="34" charset="-122"/>
                <a:cs typeface="Calibri" pitchFamily="34" charset="-120"/>
              </a:rPr>
              <a:t>Fix:  ExecutionEngine remaps generic PIDs (P0, P1) to real PIDs using Phase 1 execution order, then assigns each sync step to the CPU slice of the matching process.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Learning Outcomes</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Learning Outcomes</a:t>
            </a:r>
            <a:endParaRPr lang="en-US" sz="2800" dirty="0"/>
          </a:p>
        </p:txBody>
      </p:sp>
      <p:sp>
        <p:nvSpPr>
          <p:cNvPr id="5" name="Shape 3"/>
          <p:cNvSpPr/>
          <p:nvPr/>
        </p:nvSpPr>
        <p:spPr>
          <a:xfrm>
            <a:off x="347472" y="932688"/>
            <a:ext cx="4206240" cy="3913632"/>
          </a:xfrm>
          <a:prstGeom prst="rect">
            <a:avLst/>
          </a:prstGeom>
          <a:solidFill>
            <a:srgbClr val="1E293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6" name="Text 4"/>
          <p:cNvSpPr/>
          <p:nvPr/>
        </p:nvSpPr>
        <p:spPr>
          <a:xfrm>
            <a:off x="502920" y="1005840"/>
            <a:ext cx="3886200" cy="457200"/>
          </a:xfrm>
          <a:prstGeom prst="rect">
            <a:avLst/>
          </a:prstGeom>
          <a:noFill/>
          <a:ln/>
        </p:spPr>
        <p:txBody>
          <a:bodyPr wrap="square" rtlCol="0" anchor="ctr"/>
          <a:lstStyle/>
          <a:p>
            <a:pPr indent="0" marL="0">
              <a:buNone/>
            </a:pPr>
            <a:r>
              <a:rPr lang="en-US" sz="1500" b="1" dirty="0">
                <a:solidFill>
                  <a:srgbClr val="38BDF8"/>
                </a:solidFill>
                <a:latin typeface="Calibri" pitchFamily="34" charset="0"/>
                <a:ea typeface="Calibri" pitchFamily="34" charset="-122"/>
                <a:cs typeface="Calibri" pitchFamily="34" charset="-120"/>
              </a:rPr>
              <a:t>Technical Skills</a:t>
            </a:r>
            <a:endParaRPr lang="en-US" sz="1500" dirty="0"/>
          </a:p>
        </p:txBody>
      </p:sp>
      <p:sp>
        <p:nvSpPr>
          <p:cNvPr id="7" name="Shape 5"/>
          <p:cNvSpPr/>
          <p:nvPr/>
        </p:nvSpPr>
        <p:spPr>
          <a:xfrm>
            <a:off x="502920" y="1463040"/>
            <a:ext cx="3840480" cy="0"/>
          </a:xfrm>
          <a:prstGeom prst="line">
            <a:avLst/>
          </a:prstGeom>
          <a:noFill/>
          <a:ln w="12700">
            <a:solidFill>
              <a:srgbClr val="2563EB"/>
            </a:solidFill>
            <a:prstDash val="solid"/>
          </a:ln>
        </p:spPr>
      </p:sp>
      <p:sp>
        <p:nvSpPr>
          <p:cNvPr id="8" name="Text 6"/>
          <p:cNvSpPr/>
          <p:nvPr/>
        </p:nvSpPr>
        <p:spPr>
          <a:xfrm>
            <a:off x="457200" y="1572768"/>
            <a:ext cx="3931920" cy="420624"/>
          </a:xfrm>
          <a:prstGeom prst="rect">
            <a:avLst/>
          </a:prstGeom>
          <a:noFill/>
          <a:ln/>
        </p:spPr>
        <p:txBody>
          <a:bodyPr wrap="square" rtlCol="0" anchor="t"/>
          <a:lstStyle/>
          <a:p>
            <a:pPr indent="0" marL="0">
              <a:buNone/>
            </a:pPr>
            <a:r>
              <a:rPr lang="en-US" sz="1100" b="1" dirty="0">
                <a:solidFill>
                  <a:srgbClr val="2563EB"/>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Python Flask REST API design</a:t>
            </a:r>
            <a:endParaRPr lang="en-US" sz="1100" dirty="0"/>
          </a:p>
        </p:txBody>
      </p:sp>
      <p:sp>
        <p:nvSpPr>
          <p:cNvPr id="9" name="Text 7"/>
          <p:cNvSpPr/>
          <p:nvPr/>
        </p:nvSpPr>
        <p:spPr>
          <a:xfrm>
            <a:off x="457200" y="2029968"/>
            <a:ext cx="3931920" cy="420624"/>
          </a:xfrm>
          <a:prstGeom prst="rect">
            <a:avLst/>
          </a:prstGeom>
          <a:noFill/>
          <a:ln/>
        </p:spPr>
        <p:txBody>
          <a:bodyPr wrap="square" rtlCol="0" anchor="t"/>
          <a:lstStyle/>
          <a:p>
            <a:pPr indent="0" marL="0">
              <a:buNone/>
            </a:pPr>
            <a:r>
              <a:rPr lang="en-US" sz="1100" b="1" dirty="0">
                <a:solidFill>
                  <a:srgbClr val="2563EB"/>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HTML5 Canvas API — drawing, scaling, ResizeObserver</a:t>
            </a:r>
            <a:endParaRPr lang="en-US" sz="1100" dirty="0"/>
          </a:p>
        </p:txBody>
      </p:sp>
      <p:sp>
        <p:nvSpPr>
          <p:cNvPr id="10" name="Text 8"/>
          <p:cNvSpPr/>
          <p:nvPr/>
        </p:nvSpPr>
        <p:spPr>
          <a:xfrm>
            <a:off x="457200" y="2487168"/>
            <a:ext cx="3931920" cy="420624"/>
          </a:xfrm>
          <a:prstGeom prst="rect">
            <a:avLst/>
          </a:prstGeom>
          <a:noFill/>
          <a:ln/>
        </p:spPr>
        <p:txBody>
          <a:bodyPr wrap="square" rtlCol="0" anchor="t"/>
          <a:lstStyle/>
          <a:p>
            <a:pPr indent="0" marL="0">
              <a:buNone/>
            </a:pPr>
            <a:r>
              <a:rPr lang="en-US" sz="1100" b="1" dirty="0">
                <a:solidFill>
                  <a:srgbClr val="2563EB"/>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Deep-copy simulation snapshot correctness</a:t>
            </a:r>
            <a:endParaRPr lang="en-US" sz="1100" dirty="0"/>
          </a:p>
        </p:txBody>
      </p:sp>
      <p:sp>
        <p:nvSpPr>
          <p:cNvPr id="11" name="Text 9"/>
          <p:cNvSpPr/>
          <p:nvPr/>
        </p:nvSpPr>
        <p:spPr>
          <a:xfrm>
            <a:off x="457200" y="2944368"/>
            <a:ext cx="3931920" cy="420624"/>
          </a:xfrm>
          <a:prstGeom prst="rect">
            <a:avLst/>
          </a:prstGeom>
          <a:noFill/>
          <a:ln/>
        </p:spPr>
        <p:txBody>
          <a:bodyPr wrap="square" rtlCol="0" anchor="t"/>
          <a:lstStyle/>
          <a:p>
            <a:pPr indent="0" marL="0">
              <a:buNone/>
            </a:pPr>
            <a:r>
              <a:rPr lang="en-US" sz="1100" b="1" dirty="0">
                <a:solidFill>
                  <a:srgbClr val="2563EB"/>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Discrete-event simulation engine architecture</a:t>
            </a:r>
            <a:endParaRPr lang="en-US" sz="1100" dirty="0"/>
          </a:p>
        </p:txBody>
      </p:sp>
      <p:sp>
        <p:nvSpPr>
          <p:cNvPr id="12" name="Text 10"/>
          <p:cNvSpPr/>
          <p:nvPr/>
        </p:nvSpPr>
        <p:spPr>
          <a:xfrm>
            <a:off x="457200" y="3401568"/>
            <a:ext cx="3931920" cy="420624"/>
          </a:xfrm>
          <a:prstGeom prst="rect">
            <a:avLst/>
          </a:prstGeom>
          <a:noFill/>
          <a:ln/>
        </p:spPr>
        <p:txBody>
          <a:bodyPr wrap="square" rtlCol="0" anchor="t"/>
          <a:lstStyle/>
          <a:p>
            <a:pPr indent="0" marL="0">
              <a:buNone/>
            </a:pPr>
            <a:r>
              <a:rPr lang="en-US" sz="1100" b="1" dirty="0">
                <a:solidFill>
                  <a:srgbClr val="2563EB"/>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Algorithm dispatch tables (clean extensibility)</a:t>
            </a:r>
            <a:endParaRPr lang="en-US" sz="1100" dirty="0"/>
          </a:p>
        </p:txBody>
      </p:sp>
      <p:sp>
        <p:nvSpPr>
          <p:cNvPr id="13" name="Text 11"/>
          <p:cNvSpPr/>
          <p:nvPr/>
        </p:nvSpPr>
        <p:spPr>
          <a:xfrm>
            <a:off x="457200" y="3858768"/>
            <a:ext cx="3931920" cy="420624"/>
          </a:xfrm>
          <a:prstGeom prst="rect">
            <a:avLst/>
          </a:prstGeom>
          <a:noFill/>
          <a:ln/>
        </p:spPr>
        <p:txBody>
          <a:bodyPr wrap="square" rtlCol="0" anchor="t"/>
          <a:lstStyle/>
          <a:p>
            <a:pPr indent="0" marL="0">
              <a:buNone/>
            </a:pPr>
            <a:r>
              <a:rPr lang="en-US" sz="1100" b="1" dirty="0">
                <a:solidFill>
                  <a:srgbClr val="2563EB"/>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JSON-driven step-replay playback systems</a:t>
            </a:r>
            <a:endParaRPr lang="en-US" sz="1100" dirty="0"/>
          </a:p>
        </p:txBody>
      </p:sp>
      <p:sp>
        <p:nvSpPr>
          <p:cNvPr id="14" name="Text 12"/>
          <p:cNvSpPr/>
          <p:nvPr/>
        </p:nvSpPr>
        <p:spPr>
          <a:xfrm>
            <a:off x="457200" y="4315968"/>
            <a:ext cx="3931920" cy="420624"/>
          </a:xfrm>
          <a:prstGeom prst="rect">
            <a:avLst/>
          </a:prstGeom>
          <a:noFill/>
          <a:ln/>
        </p:spPr>
        <p:txBody>
          <a:bodyPr wrap="square" rtlCol="0" anchor="t"/>
          <a:lstStyle/>
          <a:p>
            <a:pPr indent="0" marL="0">
              <a:buNone/>
            </a:pPr>
            <a:r>
              <a:rPr lang="en-US" sz="1100" b="1" dirty="0">
                <a:solidFill>
                  <a:srgbClr val="2563EB"/>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CSS layout debugging — max-height clipping</a:t>
            </a:r>
            <a:endParaRPr lang="en-US" sz="1100" dirty="0"/>
          </a:p>
        </p:txBody>
      </p:sp>
      <p:sp>
        <p:nvSpPr>
          <p:cNvPr id="15" name="Shape 13"/>
          <p:cNvSpPr/>
          <p:nvPr/>
        </p:nvSpPr>
        <p:spPr>
          <a:xfrm>
            <a:off x="4773168" y="932688"/>
            <a:ext cx="4206240" cy="3913632"/>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6" name="Text 14"/>
          <p:cNvSpPr/>
          <p:nvPr/>
        </p:nvSpPr>
        <p:spPr>
          <a:xfrm>
            <a:off x="4919472" y="1005840"/>
            <a:ext cx="3886200" cy="457200"/>
          </a:xfrm>
          <a:prstGeom prst="rect">
            <a:avLst/>
          </a:prstGeom>
          <a:noFill/>
          <a:ln/>
        </p:spPr>
        <p:txBody>
          <a:bodyPr wrap="square" rtlCol="0" anchor="ctr"/>
          <a:lstStyle/>
          <a:p>
            <a:pPr indent="0" marL="0">
              <a:buNone/>
            </a:pPr>
            <a:r>
              <a:rPr lang="en-US" sz="1500" b="1" dirty="0">
                <a:solidFill>
                  <a:srgbClr val="06B6D4"/>
                </a:solidFill>
                <a:latin typeface="Calibri" pitchFamily="34" charset="0"/>
                <a:ea typeface="Calibri" pitchFamily="34" charset="-122"/>
                <a:cs typeface="Calibri" pitchFamily="34" charset="-120"/>
              </a:rPr>
              <a:t>Conceptual Understanding</a:t>
            </a:r>
            <a:endParaRPr lang="en-US" sz="1500" dirty="0"/>
          </a:p>
        </p:txBody>
      </p:sp>
      <p:sp>
        <p:nvSpPr>
          <p:cNvPr id="17" name="Shape 15"/>
          <p:cNvSpPr/>
          <p:nvPr/>
        </p:nvSpPr>
        <p:spPr>
          <a:xfrm>
            <a:off x="4919472" y="1463040"/>
            <a:ext cx="3840480" cy="0"/>
          </a:xfrm>
          <a:prstGeom prst="line">
            <a:avLst/>
          </a:prstGeom>
          <a:noFill/>
          <a:ln w="12700">
            <a:solidFill>
              <a:srgbClr val="06B6D4"/>
            </a:solidFill>
            <a:prstDash val="solid"/>
          </a:ln>
        </p:spPr>
      </p:sp>
      <p:sp>
        <p:nvSpPr>
          <p:cNvPr id="18" name="Text 16"/>
          <p:cNvSpPr/>
          <p:nvPr/>
        </p:nvSpPr>
        <p:spPr>
          <a:xfrm>
            <a:off x="4846320" y="1572768"/>
            <a:ext cx="3977640" cy="420624"/>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Why preemption causes more race conditions</a:t>
            </a:r>
            <a:endParaRPr lang="en-US" sz="1100" dirty="0"/>
          </a:p>
        </p:txBody>
      </p:sp>
      <p:sp>
        <p:nvSpPr>
          <p:cNvPr id="19" name="Text 17"/>
          <p:cNvSpPr/>
          <p:nvPr/>
        </p:nvSpPr>
        <p:spPr>
          <a:xfrm>
            <a:off x="4846320" y="2029968"/>
            <a:ext cx="3977640" cy="420624"/>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mutex ownership vs. semaphore flexibility</a:t>
            </a:r>
            <a:endParaRPr lang="en-US" sz="1100" dirty="0"/>
          </a:p>
        </p:txBody>
      </p:sp>
      <p:sp>
        <p:nvSpPr>
          <p:cNvPr id="20" name="Text 18"/>
          <p:cNvSpPr/>
          <p:nvPr/>
        </p:nvSpPr>
        <p:spPr>
          <a:xfrm>
            <a:off x="4846320" y="2487168"/>
            <a:ext cx="3977640" cy="420624"/>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Peterson's turn mechanism — last-write-wins logic</a:t>
            </a:r>
            <a:endParaRPr lang="en-US" sz="1100" dirty="0"/>
          </a:p>
        </p:txBody>
      </p:sp>
      <p:sp>
        <p:nvSpPr>
          <p:cNvPr id="21" name="Text 19"/>
          <p:cNvSpPr/>
          <p:nvPr/>
        </p:nvSpPr>
        <p:spPr>
          <a:xfrm>
            <a:off x="4846320" y="2944368"/>
            <a:ext cx="3977640" cy="420624"/>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Counting semaphore modeling resource pools</a:t>
            </a:r>
            <a:endParaRPr lang="en-US" sz="1100" dirty="0"/>
          </a:p>
        </p:txBody>
      </p:sp>
      <p:sp>
        <p:nvSpPr>
          <p:cNvPr id="22" name="Text 20"/>
          <p:cNvSpPr/>
          <p:nvPr/>
        </p:nvSpPr>
        <p:spPr>
          <a:xfrm>
            <a:off x="4846320" y="3401568"/>
            <a:ext cx="3977640" cy="420624"/>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Producer-Consumer three-semaphore solution</a:t>
            </a:r>
            <a:endParaRPr lang="en-US" sz="1100" dirty="0"/>
          </a:p>
        </p:txBody>
      </p:sp>
      <p:sp>
        <p:nvSpPr>
          <p:cNvPr id="23" name="Text 21"/>
          <p:cNvSpPr/>
          <p:nvPr/>
        </p:nvSpPr>
        <p:spPr>
          <a:xfrm>
            <a:off x="4846320" y="3858768"/>
            <a:ext cx="3977640" cy="420624"/>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Scoring: mutual exclusion &gt; deadlock &gt; correctness</a:t>
            </a:r>
            <a:endParaRPr lang="en-US" sz="1100" dirty="0"/>
          </a:p>
        </p:txBody>
      </p:sp>
      <p:sp>
        <p:nvSpPr>
          <p:cNvPr id="24" name="Text 22"/>
          <p:cNvSpPr/>
          <p:nvPr/>
        </p:nvSpPr>
        <p:spPr>
          <a:xfrm>
            <a:off x="4846320" y="4315968"/>
            <a:ext cx="3977640" cy="420624"/>
          </a:xfrm>
          <a:prstGeom prst="rect">
            <a:avLst/>
          </a:prstGeom>
          <a:noFill/>
          <a:ln/>
        </p:spPr>
        <p:txBody>
          <a:bodyPr wrap="square" rtlCol="0" anchor="t"/>
          <a:lstStyle/>
          <a:p>
            <a:pPr indent="0" marL="0">
              <a:buNone/>
            </a:pPr>
            <a:r>
              <a:rPr lang="en-US" sz="1100" b="1" dirty="0">
                <a:solidFill>
                  <a:srgbClr val="06B6D4"/>
                </a:solidFill>
                <a:latin typeface="Calibri" pitchFamily="34" charset="0"/>
                <a:ea typeface="Calibri" pitchFamily="34" charset="-122"/>
                <a:cs typeface="Calibri" pitchFamily="34" charset="-120"/>
              </a:rPr>
              <a:t>▸  </a:t>
            </a:r>
            <a:pPr indent="0" marL="0">
              <a:buNone/>
            </a:pPr>
            <a:r>
              <a:rPr lang="en-US" sz="1100" dirty="0">
                <a:solidFill>
                  <a:srgbClr val="CBD5E1"/>
                </a:solidFill>
                <a:latin typeface="Calibri" pitchFamily="34" charset="0"/>
                <a:ea typeface="Calibri" pitchFamily="34" charset="-122"/>
                <a:cs typeface="Calibri" pitchFamily="34" charset="-120"/>
              </a:rPr>
              <a:t>How scheduling interleaving drives sync problems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5" name="Text 3"/>
          <p:cNvSpPr/>
          <p:nvPr/>
        </p:nvSpPr>
        <p:spPr>
          <a:xfrm>
            <a:off x="411480" y="868680"/>
            <a:ext cx="8321040" cy="548640"/>
          </a:xfrm>
          <a:prstGeom prst="rect">
            <a:avLst/>
          </a:prstGeom>
          <a:noFill/>
          <a:ln/>
        </p:spPr>
        <p:txBody>
          <a:bodyPr wrap="square" rtlCol="0" anchor="ctr"/>
          <a:lstStyle/>
          <a:p>
            <a:pPr indent="0" marL="0">
              <a:buNone/>
            </a:pPr>
            <a:r>
              <a:rPr lang="en-US" sz="1250" i="1" dirty="0">
                <a:solidFill>
                  <a:srgbClr val="94A3B8"/>
                </a:solidFill>
                <a:latin typeface="Calibri" pitchFamily="34" charset="0"/>
                <a:ea typeface="Calibri" pitchFamily="34" charset="-122"/>
                <a:cs typeface="Calibri" pitchFamily="34" charset="-120"/>
              </a:rPr>
              <a:t>The simulator successfully demonstrates all targeted OS concepts in an interactive, visually connected pipeline that makes the cause-and-effect chain from scheduling to synchronization fully traceable.</a:t>
            </a:r>
            <a:endParaRPr lang="en-US" sz="1250" dirty="0"/>
          </a:p>
        </p:txBody>
      </p:sp>
      <p:sp>
        <p:nvSpPr>
          <p:cNvPr id="6" name="Shape 4"/>
          <p:cNvSpPr/>
          <p:nvPr/>
        </p:nvSpPr>
        <p:spPr>
          <a:xfrm>
            <a:off x="347472" y="1572768"/>
            <a:ext cx="4206240" cy="1572768"/>
          </a:xfrm>
          <a:prstGeom prst="rect">
            <a:avLst/>
          </a:prstGeom>
          <a:solidFill>
            <a:srgbClr val="1E293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7" name="Shape 5"/>
          <p:cNvSpPr/>
          <p:nvPr/>
        </p:nvSpPr>
        <p:spPr>
          <a:xfrm>
            <a:off x="512064" y="1737360"/>
            <a:ext cx="365760" cy="365760"/>
          </a:xfrm>
          <a:prstGeom prst="ellipse">
            <a:avLst/>
          </a:prstGeom>
          <a:solidFill>
            <a:srgbClr val="2563EB"/>
          </a:solidFill>
          <a:ln w="12700">
            <a:solidFill>
              <a:srgbClr val="2563EB"/>
            </a:solidFill>
            <a:prstDash val="solid"/>
          </a:ln>
        </p:spPr>
      </p:sp>
      <p:sp>
        <p:nvSpPr>
          <p:cNvPr id="8" name="Text 6"/>
          <p:cNvSpPr/>
          <p:nvPr/>
        </p:nvSpPr>
        <p:spPr>
          <a:xfrm>
            <a:off x="512064" y="1737360"/>
            <a:ext cx="365760" cy="365760"/>
          </a:xfrm>
          <a:prstGeom prst="rect">
            <a:avLst/>
          </a:prstGeom>
          <a:noFill/>
          <a:ln/>
        </p:spPr>
        <p:txBody>
          <a:bodyPr wrap="square"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005840" y="1664208"/>
            <a:ext cx="338328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4-Phase Pipeline</a:t>
            </a:r>
            <a:endParaRPr lang="en-US" sz="1300" dirty="0"/>
          </a:p>
        </p:txBody>
      </p:sp>
      <p:sp>
        <p:nvSpPr>
          <p:cNvPr id="10" name="Text 8"/>
          <p:cNvSpPr/>
          <p:nvPr/>
        </p:nvSpPr>
        <p:spPr>
          <a:xfrm>
            <a:off x="512064" y="2194560"/>
            <a:ext cx="3858768" cy="868680"/>
          </a:xfrm>
          <a:prstGeom prst="rect">
            <a:avLst/>
          </a:prstGeom>
          <a:noFill/>
          <a:ln/>
        </p:spPr>
        <p:txBody>
          <a:bodyPr wrap="square" rtlCol="0" anchor="t"/>
          <a:lstStyle/>
          <a:p>
            <a:pPr indent="0" marL="0">
              <a:buNone/>
            </a:pPr>
            <a:r>
              <a:rPr lang="en-US" sz="1050" dirty="0">
                <a:solidFill>
                  <a:srgbClr val="CBD5E1"/>
                </a:solidFill>
                <a:latin typeface="Calibri" pitchFamily="34" charset="0"/>
                <a:ea typeface="Calibri" pitchFamily="34" charset="-122"/>
                <a:cs typeface="Calibri" pitchFamily="34" charset="-120"/>
              </a:rPr>
              <a:t>Scheduling → Problem Detection → Synchronization → Analysis all connected on the same process data.</a:t>
            </a:r>
            <a:endParaRPr lang="en-US" sz="1050" dirty="0"/>
          </a:p>
        </p:txBody>
      </p:sp>
      <p:sp>
        <p:nvSpPr>
          <p:cNvPr id="11" name="Shape 9"/>
          <p:cNvSpPr/>
          <p:nvPr/>
        </p:nvSpPr>
        <p:spPr>
          <a:xfrm>
            <a:off x="4754880" y="1572768"/>
            <a:ext cx="4206240" cy="1572768"/>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2" name="Shape 10"/>
          <p:cNvSpPr/>
          <p:nvPr/>
        </p:nvSpPr>
        <p:spPr>
          <a:xfrm>
            <a:off x="4919472" y="1737360"/>
            <a:ext cx="365760" cy="365760"/>
          </a:xfrm>
          <a:prstGeom prst="ellipse">
            <a:avLst/>
          </a:prstGeom>
          <a:solidFill>
            <a:srgbClr val="06B6D4"/>
          </a:solidFill>
          <a:ln w="12700">
            <a:solidFill>
              <a:srgbClr val="06B6D4"/>
            </a:solidFill>
            <a:prstDash val="solid"/>
          </a:ln>
        </p:spPr>
      </p:sp>
      <p:sp>
        <p:nvSpPr>
          <p:cNvPr id="13" name="Text 11"/>
          <p:cNvSpPr/>
          <p:nvPr/>
        </p:nvSpPr>
        <p:spPr>
          <a:xfrm>
            <a:off x="4919472" y="1737360"/>
            <a:ext cx="365760" cy="365760"/>
          </a:xfrm>
          <a:prstGeom prst="rect">
            <a:avLst/>
          </a:prstGeom>
          <a:noFill/>
          <a:ln/>
        </p:spPr>
        <p:txBody>
          <a:bodyPr wrap="square"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5413248" y="1664208"/>
            <a:ext cx="338328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10 Algorithms Simulated</a:t>
            </a:r>
            <a:endParaRPr lang="en-US" sz="1300" dirty="0"/>
          </a:p>
        </p:txBody>
      </p:sp>
      <p:sp>
        <p:nvSpPr>
          <p:cNvPr id="15" name="Text 13"/>
          <p:cNvSpPr/>
          <p:nvPr/>
        </p:nvSpPr>
        <p:spPr>
          <a:xfrm>
            <a:off x="4919472" y="2194560"/>
            <a:ext cx="3858768" cy="868680"/>
          </a:xfrm>
          <a:prstGeom prst="rect">
            <a:avLst/>
          </a:prstGeom>
          <a:noFill/>
          <a:ln/>
        </p:spPr>
        <p:txBody>
          <a:bodyPr wrap="square" rtlCol="0" anchor="t"/>
          <a:lstStyle/>
          <a:p>
            <a:pPr indent="0" marL="0">
              <a:buNone/>
            </a:pPr>
            <a:r>
              <a:rPr lang="en-US" sz="1050" dirty="0">
                <a:solidFill>
                  <a:srgbClr val="CBD5E1"/>
                </a:solidFill>
                <a:latin typeface="Calibri" pitchFamily="34" charset="0"/>
                <a:ea typeface="Calibri" pitchFamily="34" charset="-122"/>
                <a:cs typeface="Calibri" pitchFamily="34" charset="-120"/>
              </a:rPr>
              <a:t>Peterson, Dekker, Mutex, Binary/Counting Semaphore, Producer-Consumer, Readers-Writers, Monitor, Race Demo, Deadlock Demo.</a:t>
            </a:r>
            <a:endParaRPr lang="en-US" sz="1050" dirty="0"/>
          </a:p>
        </p:txBody>
      </p:sp>
      <p:sp>
        <p:nvSpPr>
          <p:cNvPr id="16" name="Shape 14"/>
          <p:cNvSpPr/>
          <p:nvPr/>
        </p:nvSpPr>
        <p:spPr>
          <a:xfrm>
            <a:off x="347472" y="3310128"/>
            <a:ext cx="4206240" cy="1572768"/>
          </a:xfrm>
          <a:prstGeom prst="rect">
            <a:avLst/>
          </a:prstGeom>
          <a:solidFill>
            <a:srgbClr val="1E293B"/>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17" name="Shape 15"/>
          <p:cNvSpPr/>
          <p:nvPr/>
        </p:nvSpPr>
        <p:spPr>
          <a:xfrm>
            <a:off x="512064" y="3474720"/>
            <a:ext cx="365760" cy="365760"/>
          </a:xfrm>
          <a:prstGeom prst="ellipse">
            <a:avLst/>
          </a:prstGeom>
          <a:solidFill>
            <a:srgbClr val="10B981"/>
          </a:solidFill>
          <a:ln w="12700">
            <a:solidFill>
              <a:srgbClr val="10B981"/>
            </a:solidFill>
            <a:prstDash val="solid"/>
          </a:ln>
        </p:spPr>
      </p:sp>
      <p:sp>
        <p:nvSpPr>
          <p:cNvPr id="18" name="Text 16"/>
          <p:cNvSpPr/>
          <p:nvPr/>
        </p:nvSpPr>
        <p:spPr>
          <a:xfrm>
            <a:off x="512064" y="3474720"/>
            <a:ext cx="365760" cy="365760"/>
          </a:xfrm>
          <a:prstGeom prst="rect">
            <a:avLst/>
          </a:prstGeom>
          <a:noFill/>
          <a:ln/>
        </p:spPr>
        <p:txBody>
          <a:bodyPr wrap="square"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1005840" y="3401568"/>
            <a:ext cx="338328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Real-Data Scoring</a:t>
            </a:r>
            <a:endParaRPr lang="en-US" sz="1300" dirty="0"/>
          </a:p>
        </p:txBody>
      </p:sp>
      <p:sp>
        <p:nvSpPr>
          <p:cNvPr id="20" name="Text 18"/>
          <p:cNvSpPr/>
          <p:nvPr/>
        </p:nvSpPr>
        <p:spPr>
          <a:xfrm>
            <a:off x="512064" y="3931920"/>
            <a:ext cx="3858768" cy="868680"/>
          </a:xfrm>
          <a:prstGeom prst="rect">
            <a:avLst/>
          </a:prstGeom>
          <a:noFill/>
          <a:ln/>
        </p:spPr>
        <p:txBody>
          <a:bodyPr wrap="square" rtlCol="0" anchor="t"/>
          <a:lstStyle/>
          <a:p>
            <a:pPr indent="0" marL="0">
              <a:buNone/>
            </a:pPr>
            <a:r>
              <a:rPr lang="en-US" sz="1050" dirty="0">
                <a:solidFill>
                  <a:srgbClr val="CBD5E1"/>
                </a:solidFill>
                <a:latin typeface="Calibri" pitchFamily="34" charset="0"/>
                <a:ea typeface="Calibri" pitchFamily="34" charset="-122"/>
                <a:cs typeface="Calibri" pitchFamily="34" charset="-120"/>
              </a:rPr>
              <a:t>Technique scores computed from actual simulation metrics — mutual exclusion, deadlock freedom, efficiency — not hardcoded values.</a:t>
            </a:r>
            <a:endParaRPr lang="en-US" sz="1050" dirty="0"/>
          </a:p>
        </p:txBody>
      </p:sp>
      <p:sp>
        <p:nvSpPr>
          <p:cNvPr id="21" name="Shape 19"/>
          <p:cNvSpPr/>
          <p:nvPr/>
        </p:nvSpPr>
        <p:spPr>
          <a:xfrm>
            <a:off x="4754880" y="3310128"/>
            <a:ext cx="4206240" cy="1572768"/>
          </a:xfrm>
          <a:prstGeom prst="rect">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22" name="Shape 20"/>
          <p:cNvSpPr/>
          <p:nvPr/>
        </p:nvSpPr>
        <p:spPr>
          <a:xfrm>
            <a:off x="4919472" y="3474720"/>
            <a:ext cx="365760" cy="365760"/>
          </a:xfrm>
          <a:prstGeom prst="ellipse">
            <a:avLst/>
          </a:prstGeom>
          <a:solidFill>
            <a:srgbClr val="F59E0B"/>
          </a:solidFill>
          <a:ln w="12700">
            <a:solidFill>
              <a:srgbClr val="F59E0B"/>
            </a:solidFill>
            <a:prstDash val="solid"/>
          </a:ln>
        </p:spPr>
      </p:sp>
      <p:sp>
        <p:nvSpPr>
          <p:cNvPr id="23" name="Text 21"/>
          <p:cNvSpPr/>
          <p:nvPr/>
        </p:nvSpPr>
        <p:spPr>
          <a:xfrm>
            <a:off x="4919472" y="3474720"/>
            <a:ext cx="365760" cy="365760"/>
          </a:xfrm>
          <a:prstGeom prst="rect">
            <a:avLst/>
          </a:prstGeom>
          <a:noFill/>
          <a:ln/>
        </p:spPr>
        <p:txBody>
          <a:bodyPr wrap="square"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5413248" y="3401568"/>
            <a:ext cx="338328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Step-by-Step Playback</a:t>
            </a:r>
            <a:endParaRPr lang="en-US" sz="1300" dirty="0"/>
          </a:p>
        </p:txBody>
      </p:sp>
      <p:sp>
        <p:nvSpPr>
          <p:cNvPr id="25" name="Text 23"/>
          <p:cNvSpPr/>
          <p:nvPr/>
        </p:nvSpPr>
        <p:spPr>
          <a:xfrm>
            <a:off x="4919472" y="3931920"/>
            <a:ext cx="3858768" cy="868680"/>
          </a:xfrm>
          <a:prstGeom prst="rect">
            <a:avLst/>
          </a:prstGeom>
          <a:noFill/>
          <a:ln/>
        </p:spPr>
        <p:txBody>
          <a:bodyPr wrap="square" rtlCol="0" anchor="t"/>
          <a:lstStyle/>
          <a:p>
            <a:pPr indent="0" marL="0">
              <a:buNone/>
            </a:pPr>
            <a:r>
              <a:rPr lang="en-US" sz="1050" dirty="0">
                <a:solidFill>
                  <a:srgbClr val="CBD5E1"/>
                </a:solidFill>
                <a:latin typeface="Calibri" pitchFamily="34" charset="0"/>
                <a:ea typeface="Calibri" pitchFamily="34" charset="-122"/>
                <a:cs typeface="Calibri" pitchFamily="34" charset="-120"/>
              </a:rPr>
              <a:t>34+ steps per simulation. Play, pause, step-forward, rewind, and jump to any step on the timeline. Full system state visible every tick.</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Future Enhancements</a:t>
            </a:r>
            <a:endParaRPr lang="en-US" sz="2800" dirty="0"/>
          </a:p>
        </p:txBody>
      </p:sp>
      <p:sp>
        <p:nvSpPr>
          <p:cNvPr id="3" name="Shape 1"/>
          <p:cNvSpPr/>
          <p:nvPr/>
        </p:nvSpPr>
        <p:spPr>
          <a:xfrm>
            <a:off x="411480" y="201168"/>
            <a:ext cx="64008" cy="548640"/>
          </a:xfrm>
          <a:prstGeom prst="rect">
            <a:avLst/>
          </a:prstGeom>
          <a:solidFill>
            <a:srgbClr val="06B6D4"/>
          </a:solidFill>
          <a:ln w="12700">
            <a:solidFill>
              <a:srgbClr val="06B6D4"/>
            </a:solidFill>
            <a:prstDash val="solid"/>
          </a:ln>
        </p:spPr>
      </p:sp>
      <p:sp>
        <p:nvSpPr>
          <p:cNvPr id="4" name="Text 2"/>
          <p:cNvSpPr/>
          <p:nvPr/>
        </p:nvSpPr>
        <p:spPr>
          <a:xfrm>
            <a:off x="566928" y="182880"/>
            <a:ext cx="832104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Future Enhancements</a:t>
            </a:r>
            <a:endParaRPr lang="en-US" sz="2800" dirty="0"/>
          </a:p>
        </p:txBody>
      </p:sp>
      <p:sp>
        <p:nvSpPr>
          <p:cNvPr id="5" name="Shape 3"/>
          <p:cNvSpPr/>
          <p:nvPr/>
        </p:nvSpPr>
        <p:spPr>
          <a:xfrm>
            <a:off x="347472" y="1005840"/>
            <a:ext cx="4206240" cy="1847088"/>
          </a:xfrm>
          <a:prstGeom prst="rect">
            <a:avLst/>
          </a:prstGeom>
          <a:solidFill>
            <a:srgbClr val="1E293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6" name="Shape 4"/>
          <p:cNvSpPr/>
          <p:nvPr/>
        </p:nvSpPr>
        <p:spPr>
          <a:xfrm>
            <a:off x="530352" y="1170432"/>
            <a:ext cx="384048" cy="384048"/>
          </a:xfrm>
          <a:prstGeom prst="ellipse">
            <a:avLst/>
          </a:prstGeom>
          <a:solidFill>
            <a:srgbClr val="2563EB"/>
          </a:solidFill>
          <a:ln w="12700">
            <a:solidFill>
              <a:srgbClr val="2563EB"/>
            </a:solidFill>
            <a:prstDash val="solid"/>
          </a:ln>
        </p:spPr>
      </p:sp>
      <p:sp>
        <p:nvSpPr>
          <p:cNvPr id="7" name="Text 5"/>
          <p:cNvSpPr/>
          <p:nvPr/>
        </p:nvSpPr>
        <p:spPr>
          <a:xfrm>
            <a:off x="530352" y="1170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60704" y="1097280"/>
            <a:ext cx="333756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True Concurrent Mode</a:t>
            </a:r>
            <a:endParaRPr lang="en-US" sz="1300" dirty="0"/>
          </a:p>
        </p:txBody>
      </p:sp>
      <p:sp>
        <p:nvSpPr>
          <p:cNvPr id="9" name="Text 7"/>
          <p:cNvSpPr/>
          <p:nvPr/>
        </p:nvSpPr>
        <p:spPr>
          <a:xfrm>
            <a:off x="530352" y="1664208"/>
            <a:ext cx="3840480" cy="1097280"/>
          </a:xfrm>
          <a:prstGeom prst="rect">
            <a:avLst/>
          </a:prstGeom>
          <a:noFill/>
          <a:ln/>
        </p:spPr>
        <p:txBody>
          <a:bodyPr wrap="square" rtlCol="0" anchor="t"/>
          <a:lstStyle/>
          <a:p>
            <a:pPr indent="0" marL="0">
              <a:buNone/>
            </a:pPr>
            <a:r>
              <a:rPr lang="en-US" sz="1100" dirty="0">
                <a:solidFill>
                  <a:srgbClr val="CBD5E1"/>
                </a:solidFill>
                <a:latin typeface="Calibri" pitchFamily="34" charset="0"/>
                <a:ea typeface="Calibri" pitchFamily="34" charset="-122"/>
                <a:cs typeface="Calibri" pitchFamily="34" charset="-120"/>
              </a:rPr>
              <a:t>Replace the discrete-event simulation with a real multi-threaded execution (Python threading or asyncio) to demonstrate genuine non-determinism — where the same code produces a different wrong answer every run.</a:t>
            </a:r>
            <a:endParaRPr lang="en-US" sz="1100" dirty="0"/>
          </a:p>
        </p:txBody>
      </p:sp>
      <p:sp>
        <p:nvSpPr>
          <p:cNvPr id="10" name="Shape 8"/>
          <p:cNvSpPr/>
          <p:nvPr/>
        </p:nvSpPr>
        <p:spPr>
          <a:xfrm>
            <a:off x="4754880" y="1005840"/>
            <a:ext cx="4206240" cy="1847088"/>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1" name="Shape 9"/>
          <p:cNvSpPr/>
          <p:nvPr/>
        </p:nvSpPr>
        <p:spPr>
          <a:xfrm>
            <a:off x="4937760" y="1170432"/>
            <a:ext cx="384048" cy="384048"/>
          </a:xfrm>
          <a:prstGeom prst="ellipse">
            <a:avLst/>
          </a:prstGeom>
          <a:solidFill>
            <a:srgbClr val="06B6D4"/>
          </a:solidFill>
          <a:ln w="12700">
            <a:solidFill>
              <a:srgbClr val="06B6D4"/>
            </a:solidFill>
            <a:prstDash val="solid"/>
          </a:ln>
        </p:spPr>
      </p:sp>
      <p:sp>
        <p:nvSpPr>
          <p:cNvPr id="12" name="Text 10"/>
          <p:cNvSpPr/>
          <p:nvPr/>
        </p:nvSpPr>
        <p:spPr>
          <a:xfrm>
            <a:off x="4937760" y="1170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468112" y="1097280"/>
            <a:ext cx="333756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Lamport's Bakery Algorithm</a:t>
            </a:r>
            <a:endParaRPr lang="en-US" sz="1300" dirty="0"/>
          </a:p>
        </p:txBody>
      </p:sp>
      <p:sp>
        <p:nvSpPr>
          <p:cNvPr id="14" name="Text 12"/>
          <p:cNvSpPr/>
          <p:nvPr/>
        </p:nvSpPr>
        <p:spPr>
          <a:xfrm>
            <a:off x="4937760" y="1664208"/>
            <a:ext cx="3840480" cy="1097280"/>
          </a:xfrm>
          <a:prstGeom prst="rect">
            <a:avLst/>
          </a:prstGeom>
          <a:noFill/>
          <a:ln/>
        </p:spPr>
        <p:txBody>
          <a:bodyPr wrap="square" rtlCol="0" anchor="t"/>
          <a:lstStyle/>
          <a:p>
            <a:pPr indent="0" marL="0">
              <a:buNone/>
            </a:pPr>
            <a:r>
              <a:rPr lang="en-US" sz="1100" dirty="0">
                <a:solidFill>
                  <a:srgbClr val="CBD5E1"/>
                </a:solidFill>
                <a:latin typeface="Calibri" pitchFamily="34" charset="0"/>
                <a:ea typeface="Calibri" pitchFamily="34" charset="-122"/>
                <a:cs typeface="Calibri" pitchFamily="34" charset="-120"/>
              </a:rPr>
              <a:t>Extend Peterson's software ME approach to N processes using Lamport's Bakery algorithm (1974), completing the progression from 2-process to N-process software solutions.</a:t>
            </a:r>
            <a:endParaRPr lang="en-US" sz="1100" dirty="0"/>
          </a:p>
        </p:txBody>
      </p:sp>
      <p:sp>
        <p:nvSpPr>
          <p:cNvPr id="15" name="Shape 13"/>
          <p:cNvSpPr/>
          <p:nvPr/>
        </p:nvSpPr>
        <p:spPr>
          <a:xfrm>
            <a:off x="347472" y="3017520"/>
            <a:ext cx="4206240" cy="1847088"/>
          </a:xfrm>
          <a:prstGeom prst="rect">
            <a:avLst/>
          </a:prstGeom>
          <a:solidFill>
            <a:srgbClr val="1E293B"/>
          </a:solidFill>
          <a:ln w="19050">
            <a:solidFill>
              <a:srgbClr val="F59E0B"/>
            </a:solidFill>
            <a:prstDash val="solid"/>
          </a:ln>
          <a:effectLst>
            <a:outerShdw sx="100000" sy="100000" kx="0" ky="0" algn="bl" rotWithShape="0" blurRad="101600" dist="25400" dir="8100000">
              <a:srgbClr val="000000">
                <a:alpha val="28000"/>
              </a:srgbClr>
            </a:outerShdw>
          </a:effectLst>
        </p:spPr>
      </p:sp>
      <p:sp>
        <p:nvSpPr>
          <p:cNvPr id="16" name="Shape 14"/>
          <p:cNvSpPr/>
          <p:nvPr/>
        </p:nvSpPr>
        <p:spPr>
          <a:xfrm>
            <a:off x="530352" y="3182112"/>
            <a:ext cx="384048" cy="384048"/>
          </a:xfrm>
          <a:prstGeom prst="ellipse">
            <a:avLst/>
          </a:prstGeom>
          <a:solidFill>
            <a:srgbClr val="F59E0B"/>
          </a:solidFill>
          <a:ln w="12700">
            <a:solidFill>
              <a:srgbClr val="F59E0B"/>
            </a:solidFill>
            <a:prstDash val="solid"/>
          </a:ln>
        </p:spPr>
      </p:sp>
      <p:sp>
        <p:nvSpPr>
          <p:cNvPr id="17" name="Text 15"/>
          <p:cNvSpPr/>
          <p:nvPr/>
        </p:nvSpPr>
        <p:spPr>
          <a:xfrm>
            <a:off x="530352" y="3182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060704" y="3108960"/>
            <a:ext cx="333756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AI-Powered Explanation</a:t>
            </a:r>
            <a:endParaRPr lang="en-US" sz="1300" dirty="0"/>
          </a:p>
        </p:txBody>
      </p:sp>
      <p:sp>
        <p:nvSpPr>
          <p:cNvPr id="19" name="Text 17"/>
          <p:cNvSpPr/>
          <p:nvPr/>
        </p:nvSpPr>
        <p:spPr>
          <a:xfrm>
            <a:off x="530352" y="3675888"/>
            <a:ext cx="3840480" cy="1097280"/>
          </a:xfrm>
          <a:prstGeom prst="rect">
            <a:avLst/>
          </a:prstGeom>
          <a:noFill/>
          <a:ln/>
        </p:spPr>
        <p:txBody>
          <a:bodyPr wrap="square" rtlCol="0" anchor="t"/>
          <a:lstStyle/>
          <a:p>
            <a:pPr indent="0" marL="0">
              <a:buNone/>
            </a:pPr>
            <a:r>
              <a:rPr lang="en-US" sz="1100" dirty="0">
                <a:solidFill>
                  <a:srgbClr val="CBD5E1"/>
                </a:solidFill>
                <a:latin typeface="Calibri" pitchFamily="34" charset="0"/>
                <a:ea typeface="Calibri" pitchFamily="34" charset="-122"/>
                <a:cs typeface="Calibri" pitchFamily="34" charset="-120"/>
              </a:rPr>
              <a:t>Integrate the already-wired OpenAI API endpoint (build_llm_context is complete) to generate plain-English step explanations, making the simulator usable without prior OS knowledge.</a:t>
            </a:r>
            <a:endParaRPr lang="en-US" sz="1100" dirty="0"/>
          </a:p>
        </p:txBody>
      </p:sp>
      <p:sp>
        <p:nvSpPr>
          <p:cNvPr id="20" name="Shape 18"/>
          <p:cNvSpPr/>
          <p:nvPr/>
        </p:nvSpPr>
        <p:spPr>
          <a:xfrm>
            <a:off x="4754880" y="3017520"/>
            <a:ext cx="4206240" cy="1847088"/>
          </a:xfrm>
          <a:prstGeom prst="rect">
            <a:avLst/>
          </a:prstGeom>
          <a:solidFill>
            <a:srgbClr val="1E293B"/>
          </a:solidFill>
          <a:ln w="19050">
            <a:solidFill>
              <a:srgbClr val="10B981"/>
            </a:solidFill>
            <a:prstDash val="solid"/>
          </a:ln>
          <a:effectLst>
            <a:outerShdw sx="100000" sy="100000" kx="0" ky="0" algn="bl" rotWithShape="0" blurRad="101600" dist="25400" dir="8100000">
              <a:srgbClr val="000000">
                <a:alpha val="28000"/>
              </a:srgbClr>
            </a:outerShdw>
          </a:effectLst>
        </p:spPr>
      </p:sp>
      <p:sp>
        <p:nvSpPr>
          <p:cNvPr id="21" name="Shape 19"/>
          <p:cNvSpPr/>
          <p:nvPr/>
        </p:nvSpPr>
        <p:spPr>
          <a:xfrm>
            <a:off x="4937760" y="3182112"/>
            <a:ext cx="384048" cy="384048"/>
          </a:xfrm>
          <a:prstGeom prst="ellipse">
            <a:avLst/>
          </a:prstGeom>
          <a:solidFill>
            <a:srgbClr val="10B981"/>
          </a:solidFill>
          <a:ln w="12700">
            <a:solidFill>
              <a:srgbClr val="10B981"/>
            </a:solidFill>
            <a:prstDash val="solid"/>
          </a:ln>
        </p:spPr>
      </p:sp>
      <p:sp>
        <p:nvSpPr>
          <p:cNvPr id="22" name="Text 20"/>
          <p:cNvSpPr/>
          <p:nvPr/>
        </p:nvSpPr>
        <p:spPr>
          <a:xfrm>
            <a:off x="4937760" y="3182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5468112" y="3108960"/>
            <a:ext cx="333756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Memory Management Module</a:t>
            </a:r>
            <a:endParaRPr lang="en-US" sz="1300" dirty="0"/>
          </a:p>
        </p:txBody>
      </p:sp>
      <p:sp>
        <p:nvSpPr>
          <p:cNvPr id="24" name="Text 22"/>
          <p:cNvSpPr/>
          <p:nvPr/>
        </p:nvSpPr>
        <p:spPr>
          <a:xfrm>
            <a:off x="4937760" y="3675888"/>
            <a:ext cx="3840480" cy="1097280"/>
          </a:xfrm>
          <a:prstGeom prst="rect">
            <a:avLst/>
          </a:prstGeom>
          <a:noFill/>
          <a:ln/>
        </p:spPr>
        <p:txBody>
          <a:bodyPr wrap="square" rtlCol="0" anchor="t"/>
          <a:lstStyle/>
          <a:p>
            <a:pPr indent="0" marL="0">
              <a:buNone/>
            </a:pPr>
            <a:r>
              <a:rPr lang="en-US" sz="1100" dirty="0">
                <a:solidFill>
                  <a:srgbClr val="CBD5E1"/>
                </a:solidFill>
                <a:latin typeface="Calibri" pitchFamily="34" charset="0"/>
                <a:ea typeface="Calibri" pitchFamily="34" charset="-122"/>
                <a:cs typeface="Calibri" pitchFamily="34" charset="-120"/>
              </a:rPr>
              <a:t>Add Phase 5 covering paging, page replacement algorithms (FIFO, LRU, Optimal), and TLB simulation — completing the full process lifecycle from scheduling to memory.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583680" y="-1280160"/>
            <a:ext cx="5029200" cy="5029200"/>
          </a:xfrm>
          <a:prstGeom prst="ellipse">
            <a:avLst/>
          </a:prstGeom>
          <a:solidFill>
            <a:srgbClr val="2563EB">
              <a:alpha val="45000"/>
            </a:srgbClr>
          </a:solidFill>
          <a:ln w="12700">
            <a:solidFill>
              <a:srgbClr val="2563EB"/>
            </a:solidFill>
            <a:prstDash val="solid"/>
          </a:ln>
        </p:spPr>
      </p:sp>
      <p:sp>
        <p:nvSpPr>
          <p:cNvPr id="3" name="Shape 1"/>
          <p:cNvSpPr/>
          <p:nvPr/>
        </p:nvSpPr>
        <p:spPr>
          <a:xfrm>
            <a:off x="-1828800" y="1645920"/>
            <a:ext cx="4572000" cy="4572000"/>
          </a:xfrm>
          <a:prstGeom prst="ellipse">
            <a:avLst/>
          </a:prstGeom>
          <a:solidFill>
            <a:srgbClr val="06B6D4">
              <a:alpha val="15000"/>
            </a:srgbClr>
          </a:solidFill>
          <a:ln w="12700">
            <a:solidFill>
              <a:srgbClr val="06B6D4"/>
            </a:solidFill>
            <a:prstDash val="solid"/>
          </a:ln>
        </p:spPr>
      </p:sp>
      <p:sp>
        <p:nvSpPr>
          <p:cNvPr id="4" name="Shape 2"/>
          <p:cNvSpPr/>
          <p:nvPr/>
        </p:nvSpPr>
        <p:spPr>
          <a:xfrm>
            <a:off x="3474720" y="4114800"/>
            <a:ext cx="2286000" cy="2286000"/>
          </a:xfrm>
          <a:prstGeom prst="ellipse">
            <a:avLst/>
          </a:prstGeom>
          <a:solidFill>
            <a:srgbClr val="2563EB">
              <a:alpha val="30000"/>
            </a:srgbClr>
          </a:solidFill>
          <a:ln w="12700">
            <a:solidFill>
              <a:srgbClr val="2563EB"/>
            </a:solidFill>
            <a:prstDash val="solid"/>
          </a:ln>
        </p:spPr>
      </p:sp>
      <p:sp>
        <p:nvSpPr>
          <p:cNvPr id="5" name="Text 3"/>
          <p:cNvSpPr/>
          <p:nvPr/>
        </p:nvSpPr>
        <p:spPr>
          <a:xfrm>
            <a:off x="457200" y="685800"/>
            <a:ext cx="8229600" cy="1371600"/>
          </a:xfrm>
          <a:prstGeom prst="rect">
            <a:avLst/>
          </a:prstGeom>
          <a:noFill/>
          <a:ln/>
        </p:spPr>
        <p:txBody>
          <a:bodyPr wrap="square" lIns="0" tIns="0" rIns="0" bIns="0" rtlCol="0" anchor="ctr"/>
          <a:lstStyle/>
          <a:p>
            <a:pPr algn="ctr" indent="0" marL="0">
              <a:buNone/>
            </a:pPr>
            <a:r>
              <a:rPr lang="en-US" sz="6800" b="1" dirty="0">
                <a:solidFill>
                  <a:srgbClr val="FFFFFF"/>
                </a:solidFill>
                <a:latin typeface="Calibri" pitchFamily="34" charset="0"/>
                <a:ea typeface="Calibri" pitchFamily="34" charset="-122"/>
                <a:cs typeface="Calibri" pitchFamily="34" charset="-120"/>
              </a:rPr>
              <a:t>Thank You</a:t>
            </a:r>
            <a:endParaRPr lang="en-US" sz="6800" dirty="0"/>
          </a:p>
        </p:txBody>
      </p:sp>
      <p:sp>
        <p:nvSpPr>
          <p:cNvPr id="6" name="Text 4"/>
          <p:cNvSpPr/>
          <p:nvPr/>
        </p:nvSpPr>
        <p:spPr>
          <a:xfrm>
            <a:off x="457200" y="2057400"/>
            <a:ext cx="8229600" cy="548640"/>
          </a:xfrm>
          <a:prstGeom prst="rect">
            <a:avLst/>
          </a:prstGeom>
          <a:noFill/>
          <a:ln/>
        </p:spPr>
        <p:txBody>
          <a:bodyPr wrap="square" lIns="0" tIns="0" rIns="0" bIns="0" rtlCol="0" anchor="ctr"/>
          <a:lstStyle/>
          <a:p>
            <a:pPr algn="ctr" indent="0" marL="0">
              <a:buNone/>
            </a:pPr>
            <a:r>
              <a:rPr lang="en-US" sz="2400" i="1" dirty="0">
                <a:solidFill>
                  <a:srgbClr val="06B6D4"/>
                </a:solidFill>
                <a:latin typeface="Calibri" pitchFamily="34" charset="0"/>
                <a:ea typeface="Calibri" pitchFamily="34" charset="-122"/>
                <a:cs typeface="Calibri" pitchFamily="34" charset="-120"/>
              </a:rPr>
              <a:t>Questions &amp; Discussion</a:t>
            </a:r>
            <a:endParaRPr lang="en-US" sz="2400" dirty="0"/>
          </a:p>
        </p:txBody>
      </p:sp>
      <p:sp>
        <p:nvSpPr>
          <p:cNvPr id="7" name="Shape 5"/>
          <p:cNvSpPr/>
          <p:nvPr/>
        </p:nvSpPr>
        <p:spPr>
          <a:xfrm>
            <a:off x="2286000" y="2697480"/>
            <a:ext cx="4572000" cy="0"/>
          </a:xfrm>
          <a:prstGeom prst="line">
            <a:avLst/>
          </a:prstGeom>
          <a:noFill/>
          <a:ln w="12700">
            <a:solidFill>
              <a:srgbClr val="2563EB"/>
            </a:solidFill>
            <a:prstDash val="solid"/>
          </a:ln>
        </p:spPr>
      </p:sp>
      <p:sp>
        <p:nvSpPr>
          <p:cNvPr id="8" name="Shape 6"/>
          <p:cNvSpPr/>
          <p:nvPr/>
        </p:nvSpPr>
        <p:spPr>
          <a:xfrm>
            <a:off x="1371600" y="2907792"/>
            <a:ext cx="2743200" cy="1417320"/>
          </a:xfrm>
          <a:prstGeom prst="rect">
            <a:avLst/>
          </a:prstGeom>
          <a:solidFill>
            <a:srgbClr val="1E293B"/>
          </a:solidFill>
          <a:ln w="19050">
            <a:solidFill>
              <a:srgbClr val="2563EB"/>
            </a:solidFill>
            <a:prstDash val="solid"/>
          </a:ln>
          <a:effectLst>
            <a:outerShdw sx="100000" sy="100000" kx="0" ky="0" algn="bl" rotWithShape="0" blurRad="101600" dist="25400" dir="8100000">
              <a:srgbClr val="000000">
                <a:alpha val="28000"/>
              </a:srgbClr>
            </a:outerShdw>
          </a:effectLst>
        </p:spPr>
      </p:sp>
      <p:sp>
        <p:nvSpPr>
          <p:cNvPr id="9" name="Text 7"/>
          <p:cNvSpPr/>
          <p:nvPr/>
        </p:nvSpPr>
        <p:spPr>
          <a:xfrm>
            <a:off x="1417320" y="2944368"/>
            <a:ext cx="2651760" cy="13258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Syed Hassan Bukhari
</a:t>
            </a:r>
            <a:endParaRPr lang="en-US" sz="1150" dirty="0"/>
          </a:p>
          <a:p>
            <a:pPr algn="ctr" indent="0" marL="0">
              <a:buNone/>
            </a:pPr>
            <a:r>
              <a:rPr lang="en-US" sz="1150" dirty="0">
                <a:solidFill>
                  <a:srgbClr val="06B6D4"/>
                </a:solidFill>
                <a:latin typeface="Calibri" pitchFamily="34" charset="0"/>
                <a:ea typeface="Calibri" pitchFamily="34" charset="-122"/>
                <a:cs typeface="Calibri" pitchFamily="34" charset="-120"/>
              </a:rPr>
              <a:t>23FA-040-SE
</a:t>
            </a:r>
            <a:endParaRPr lang="en-US" sz="1150" dirty="0"/>
          </a:p>
          <a:p>
            <a:pPr algn="ctr" indent="0" marL="0">
              <a:buNone/>
            </a:pPr>
            <a:r>
              <a:rPr lang="en-US" sz="1150" dirty="0">
                <a:solidFill>
                  <a:srgbClr val="94A3B8"/>
                </a:solidFill>
                <a:latin typeface="Calibri" pitchFamily="34" charset="0"/>
                <a:ea typeface="Calibri" pitchFamily="34" charset="-122"/>
                <a:cs typeface="Calibri" pitchFamily="34" charset="-120"/>
              </a:rPr>
              <a:t>hassanbk2003@gmail.com</a:t>
            </a:r>
            <a:endParaRPr lang="en-US" sz="1150" dirty="0"/>
          </a:p>
        </p:txBody>
      </p:sp>
      <p:sp>
        <p:nvSpPr>
          <p:cNvPr id="10" name="Shape 8"/>
          <p:cNvSpPr/>
          <p:nvPr/>
        </p:nvSpPr>
        <p:spPr>
          <a:xfrm>
            <a:off x="5029200" y="2907792"/>
            <a:ext cx="2743200" cy="1417320"/>
          </a:xfrm>
          <a:prstGeom prst="rect">
            <a:avLst/>
          </a:prstGeom>
          <a:solidFill>
            <a:srgbClr val="1E293B"/>
          </a:solidFill>
          <a:ln w="19050">
            <a:solidFill>
              <a:srgbClr val="06B6D4"/>
            </a:solidFill>
            <a:prstDash val="solid"/>
          </a:ln>
          <a:effectLst>
            <a:outerShdw sx="100000" sy="100000" kx="0" ky="0" algn="bl" rotWithShape="0" blurRad="101600" dist="25400" dir="8100000">
              <a:srgbClr val="000000">
                <a:alpha val="28000"/>
              </a:srgbClr>
            </a:outerShdw>
          </a:effectLst>
        </p:spPr>
      </p:sp>
      <p:sp>
        <p:nvSpPr>
          <p:cNvPr id="11" name="Text 9"/>
          <p:cNvSpPr/>
          <p:nvPr/>
        </p:nvSpPr>
        <p:spPr>
          <a:xfrm>
            <a:off x="5074920" y="2944368"/>
            <a:ext cx="2651760" cy="13258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Huzaifa Ali Khan
</a:t>
            </a:r>
            <a:endParaRPr lang="en-US" sz="1150" dirty="0"/>
          </a:p>
          <a:p>
            <a:pPr algn="ctr" indent="0" marL="0">
              <a:buNone/>
            </a:pPr>
            <a:r>
              <a:rPr lang="en-US" sz="1150" dirty="0">
                <a:solidFill>
                  <a:srgbClr val="06B6D4"/>
                </a:solidFill>
                <a:latin typeface="Calibri" pitchFamily="34" charset="0"/>
                <a:ea typeface="Calibri" pitchFamily="34" charset="-122"/>
                <a:cs typeface="Calibri" pitchFamily="34" charset="-120"/>
              </a:rPr>
              <a:t>24SP-032-SE
</a:t>
            </a:r>
            <a:endParaRPr lang="en-US" sz="1150" dirty="0"/>
          </a:p>
          <a:p>
            <a:pPr algn="ctr" indent="0" marL="0">
              <a:buNone/>
            </a:pPr>
            <a:r>
              <a:rPr lang="en-US" sz="1150" dirty="0">
                <a:solidFill>
                  <a:srgbClr val="94A3B8"/>
                </a:solidFill>
                <a:latin typeface="Calibri" pitchFamily="34" charset="0"/>
                <a:ea typeface="Calibri" pitchFamily="34" charset="-122"/>
                <a:cs typeface="Calibri" pitchFamily="34" charset="-120"/>
              </a:rPr>
              <a:t>Dept. of CS  •  Spring 2026</a:t>
            </a:r>
            <a:endParaRPr lang="en-US" sz="1150" dirty="0"/>
          </a:p>
        </p:txBody>
      </p:sp>
      <p:sp>
        <p:nvSpPr>
          <p:cNvPr id="12" name="Text 10"/>
          <p:cNvSpPr/>
          <p:nvPr/>
        </p:nvSpPr>
        <p:spPr>
          <a:xfrm>
            <a:off x="457200" y="4480560"/>
            <a:ext cx="8229600" cy="320040"/>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Operating System  |  Software Engineering Batch 2024  |  Section 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Synchronization Simulator</dc:title>
  <dc:subject>PptxGenJS Presentation</dc:subject>
  <dc:creator>Syed Hassan Bukhari, Huzaifa Ali Khan</dc:creator>
  <cp:lastModifiedBy>Syed Hassan Bukhari, Huzaifa Ali Khan</cp:lastModifiedBy>
  <cp:revision>1</cp:revision>
  <dcterms:created xsi:type="dcterms:W3CDTF">2026-06-05T19:16:00Z</dcterms:created>
  <dcterms:modified xsi:type="dcterms:W3CDTF">2026-06-05T19:16:00Z</dcterms:modified>
</cp:coreProperties>
</file>